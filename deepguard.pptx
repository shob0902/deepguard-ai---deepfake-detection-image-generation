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Agrandir" panose="020B0604020202020204" charset="0"/>
      <p:regular r:id="rId14"/>
    </p:embeddedFont>
    <p:embeddedFont>
      <p:font typeface="Agrandir Bold" panose="020B0604020202020204" charset="0"/>
      <p:regular r:id="rId15"/>
    </p:embeddedFont>
    <p:embeddedFont>
      <p:font typeface="Agrandir Grand Heavy" panose="020B0604020202020204" charset="0"/>
      <p:regular r:id="rId16"/>
    </p:embeddedFont>
    <p:embeddedFont>
      <p:font typeface="Montserrat" panose="00000500000000000000" pitchFamily="2" charset="0"/>
      <p:regular r:id="rId17"/>
    </p:embeddedFont>
    <p:embeddedFont>
      <p:font typeface="Palm Club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1300" y="6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2.svg"/><Relationship Id="rId7" Type="http://schemas.openxmlformats.org/officeDocument/2006/relationships/image" Target="../media/image1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06994" y="-3259468"/>
            <a:ext cx="10474737" cy="14625104"/>
          </a:xfrm>
          <a:custGeom>
            <a:avLst/>
            <a:gdLst/>
            <a:ahLst/>
            <a:cxnLst/>
            <a:rect l="l" t="t" r="r" b="b"/>
            <a:pathLst>
              <a:path w="10474737" h="14625104">
                <a:moveTo>
                  <a:pt x="0" y="0"/>
                </a:moveTo>
                <a:lnTo>
                  <a:pt x="10474737" y="0"/>
                </a:lnTo>
                <a:lnTo>
                  <a:pt x="10474737" y="14625104"/>
                </a:lnTo>
                <a:lnTo>
                  <a:pt x="0" y="146251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5948774" y="8428574"/>
            <a:ext cx="6776626" cy="587121"/>
            <a:chOff x="0" y="0"/>
            <a:chExt cx="1683082" cy="1546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83082" cy="154633"/>
            </a:xfrm>
            <a:custGeom>
              <a:avLst/>
              <a:gdLst/>
              <a:ahLst/>
              <a:cxnLst/>
              <a:rect l="l" t="t" r="r" b="b"/>
              <a:pathLst>
                <a:path w="1683082" h="154633">
                  <a:moveTo>
                    <a:pt x="77316" y="0"/>
                  </a:moveTo>
                  <a:lnTo>
                    <a:pt x="1605766" y="0"/>
                  </a:lnTo>
                  <a:cubicBezTo>
                    <a:pt x="1648466" y="0"/>
                    <a:pt x="1683082" y="34616"/>
                    <a:pt x="1683082" y="77316"/>
                  </a:cubicBezTo>
                  <a:lnTo>
                    <a:pt x="1683082" y="77316"/>
                  </a:lnTo>
                  <a:cubicBezTo>
                    <a:pt x="1683082" y="120017"/>
                    <a:pt x="1648466" y="154633"/>
                    <a:pt x="1605766" y="154633"/>
                  </a:cubicBezTo>
                  <a:lnTo>
                    <a:pt x="77316" y="154633"/>
                  </a:lnTo>
                  <a:cubicBezTo>
                    <a:pt x="34616" y="154633"/>
                    <a:pt x="0" y="120017"/>
                    <a:pt x="0" y="77316"/>
                  </a:cubicBezTo>
                  <a:lnTo>
                    <a:pt x="0" y="77316"/>
                  </a:lnTo>
                  <a:cubicBezTo>
                    <a:pt x="0" y="34616"/>
                    <a:pt x="34616" y="0"/>
                    <a:pt x="773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E9480D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85725"/>
              <a:ext cx="1683082" cy="2403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 rot="-273479">
            <a:off x="5049587" y="3487610"/>
            <a:ext cx="7012091" cy="2533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38"/>
              </a:lnSpc>
            </a:pPr>
            <a:r>
              <a:rPr lang="en-US" sz="14670">
                <a:solidFill>
                  <a:srgbClr val="E9480D">
                    <a:alpha val="61961"/>
                  </a:srgbClr>
                </a:solidFill>
                <a:latin typeface="Palm Club"/>
                <a:ea typeface="Palm Club"/>
                <a:cs typeface="Palm Club"/>
                <a:sym typeface="Palm Club"/>
              </a:rPr>
              <a:t>AI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230686" y="3403213"/>
            <a:ext cx="9826629" cy="1647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80"/>
              </a:lnSpc>
            </a:pPr>
            <a:r>
              <a:rPr lang="en-US" sz="8272" b="1">
                <a:solidFill>
                  <a:srgbClr val="242424"/>
                </a:solidFill>
                <a:latin typeface="Agrandir Grand Heavy"/>
                <a:ea typeface="Agrandir Grand Heavy"/>
                <a:cs typeface="Agrandir Grand Heavy"/>
                <a:sym typeface="Agrandir Grand Heavy"/>
              </a:rPr>
              <a:t>DEEPGUARD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03566" y="8476620"/>
            <a:ext cx="5536034" cy="337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84"/>
              </a:lnSpc>
            </a:pPr>
            <a:r>
              <a:rPr lang="en-US" sz="1989" dirty="0" err="1">
                <a:solidFill>
                  <a:srgbClr val="E9480D"/>
                </a:solidFill>
                <a:latin typeface="Agrandir"/>
                <a:ea typeface="Agrandir"/>
                <a:cs typeface="Agrandir"/>
                <a:sym typeface="Agrandir"/>
              </a:rPr>
              <a:t>PyTorch</a:t>
            </a:r>
            <a:r>
              <a:rPr lang="en-US" sz="1989" dirty="0">
                <a:solidFill>
                  <a:srgbClr val="E9480D"/>
                </a:solidFill>
                <a:latin typeface="Agrandir"/>
                <a:ea typeface="Agrandir"/>
                <a:cs typeface="Agrandir"/>
                <a:sym typeface="Agrandir"/>
              </a:rPr>
              <a:t> • Flask • ResNet18 • Computer Vision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926896" y="6983119"/>
            <a:ext cx="6434208" cy="424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</a:pPr>
            <a:r>
              <a:rPr lang="en-US" sz="2117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GUIDE: DR. SANTHI K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35448" y="1055618"/>
            <a:ext cx="3217104" cy="73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6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22BCE0669</a:t>
            </a:r>
          </a:p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SHOBHIT SHOURYA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69817" y="1640365"/>
            <a:ext cx="6222236" cy="7006270"/>
            <a:chOff x="0" y="0"/>
            <a:chExt cx="1638778" cy="18452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38778" cy="1845273"/>
            </a:xfrm>
            <a:custGeom>
              <a:avLst/>
              <a:gdLst/>
              <a:ahLst/>
              <a:cxnLst/>
              <a:rect l="l" t="t" r="r" b="b"/>
              <a:pathLst>
                <a:path w="1638778" h="1845273">
                  <a:moveTo>
                    <a:pt x="31106" y="0"/>
                  </a:moveTo>
                  <a:lnTo>
                    <a:pt x="1607672" y="0"/>
                  </a:lnTo>
                  <a:cubicBezTo>
                    <a:pt x="1624851" y="0"/>
                    <a:pt x="1638778" y="13927"/>
                    <a:pt x="1638778" y="31106"/>
                  </a:cubicBezTo>
                  <a:lnTo>
                    <a:pt x="1638778" y="1814167"/>
                  </a:lnTo>
                  <a:cubicBezTo>
                    <a:pt x="1638778" y="1831346"/>
                    <a:pt x="1624851" y="1845273"/>
                    <a:pt x="1607672" y="1845273"/>
                  </a:cubicBezTo>
                  <a:lnTo>
                    <a:pt x="31106" y="1845273"/>
                  </a:lnTo>
                  <a:cubicBezTo>
                    <a:pt x="13927" y="1845273"/>
                    <a:pt x="0" y="1831346"/>
                    <a:pt x="0" y="1814167"/>
                  </a:cubicBezTo>
                  <a:lnTo>
                    <a:pt x="0" y="31106"/>
                  </a:lnTo>
                  <a:cubicBezTo>
                    <a:pt x="0" y="13927"/>
                    <a:pt x="13927" y="0"/>
                    <a:pt x="31106" y="0"/>
                  </a:cubicBezTo>
                  <a:close/>
                </a:path>
              </a:pathLst>
            </a:custGeom>
            <a:solidFill>
              <a:srgbClr val="F0F0F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1638778" cy="1940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472146" y="2176193"/>
            <a:ext cx="6269753" cy="2967307"/>
            <a:chOff x="0" y="0"/>
            <a:chExt cx="1651293" cy="78151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51293" cy="781513"/>
            </a:xfrm>
            <a:custGeom>
              <a:avLst/>
              <a:gdLst/>
              <a:ahLst/>
              <a:cxnLst/>
              <a:rect l="l" t="t" r="r" b="b"/>
              <a:pathLst>
                <a:path w="1651293" h="781513">
                  <a:moveTo>
                    <a:pt x="25931" y="0"/>
                  </a:moveTo>
                  <a:lnTo>
                    <a:pt x="1625362" y="0"/>
                  </a:lnTo>
                  <a:cubicBezTo>
                    <a:pt x="1632239" y="0"/>
                    <a:pt x="1638835" y="2732"/>
                    <a:pt x="1643698" y="7595"/>
                  </a:cubicBezTo>
                  <a:cubicBezTo>
                    <a:pt x="1648561" y="12458"/>
                    <a:pt x="1651293" y="19054"/>
                    <a:pt x="1651293" y="25931"/>
                  </a:cubicBezTo>
                  <a:lnTo>
                    <a:pt x="1651293" y="755582"/>
                  </a:lnTo>
                  <a:cubicBezTo>
                    <a:pt x="1651293" y="762459"/>
                    <a:pt x="1648561" y="769055"/>
                    <a:pt x="1643698" y="773918"/>
                  </a:cubicBezTo>
                  <a:cubicBezTo>
                    <a:pt x="1638835" y="778781"/>
                    <a:pt x="1632239" y="781513"/>
                    <a:pt x="1625362" y="781513"/>
                  </a:cubicBezTo>
                  <a:lnTo>
                    <a:pt x="25931" y="781513"/>
                  </a:lnTo>
                  <a:cubicBezTo>
                    <a:pt x="19054" y="781513"/>
                    <a:pt x="12458" y="778781"/>
                    <a:pt x="7595" y="773918"/>
                  </a:cubicBezTo>
                  <a:cubicBezTo>
                    <a:pt x="2732" y="769055"/>
                    <a:pt x="0" y="762459"/>
                    <a:pt x="0" y="755582"/>
                  </a:cubicBezTo>
                  <a:lnTo>
                    <a:pt x="0" y="25931"/>
                  </a:lnTo>
                  <a:cubicBezTo>
                    <a:pt x="0" y="19054"/>
                    <a:pt x="2732" y="12458"/>
                    <a:pt x="7595" y="7595"/>
                  </a:cubicBezTo>
                  <a:cubicBezTo>
                    <a:pt x="12458" y="2732"/>
                    <a:pt x="19054" y="0"/>
                    <a:pt x="25931" y="0"/>
                  </a:cubicBezTo>
                  <a:close/>
                </a:path>
              </a:pathLst>
            </a:custGeom>
            <a:solidFill>
              <a:srgbClr val="E9480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1651293" cy="8767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4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969817" y="3568896"/>
            <a:ext cx="1872556" cy="422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4"/>
              </a:lnSpc>
            </a:pPr>
            <a:r>
              <a:rPr lang="en-US" sz="2117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DEEPFAKES</a:t>
            </a:r>
          </a:p>
        </p:txBody>
      </p:sp>
      <p:sp>
        <p:nvSpPr>
          <p:cNvPr id="9" name="AutoShape 9"/>
          <p:cNvSpPr/>
          <p:nvPr/>
        </p:nvSpPr>
        <p:spPr>
          <a:xfrm>
            <a:off x="11823323" y="3685538"/>
            <a:ext cx="0" cy="238301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10" name="Group 10"/>
          <p:cNvGrpSpPr/>
          <p:nvPr/>
        </p:nvGrpSpPr>
        <p:grpSpPr>
          <a:xfrm>
            <a:off x="9472146" y="5391150"/>
            <a:ext cx="6269753" cy="2967307"/>
            <a:chOff x="0" y="0"/>
            <a:chExt cx="1651293" cy="78151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51293" cy="781513"/>
            </a:xfrm>
            <a:custGeom>
              <a:avLst/>
              <a:gdLst/>
              <a:ahLst/>
              <a:cxnLst/>
              <a:rect l="l" t="t" r="r" b="b"/>
              <a:pathLst>
                <a:path w="1651293" h="781513">
                  <a:moveTo>
                    <a:pt x="25931" y="0"/>
                  </a:moveTo>
                  <a:lnTo>
                    <a:pt x="1625362" y="0"/>
                  </a:lnTo>
                  <a:cubicBezTo>
                    <a:pt x="1632239" y="0"/>
                    <a:pt x="1638835" y="2732"/>
                    <a:pt x="1643698" y="7595"/>
                  </a:cubicBezTo>
                  <a:cubicBezTo>
                    <a:pt x="1648561" y="12458"/>
                    <a:pt x="1651293" y="19054"/>
                    <a:pt x="1651293" y="25931"/>
                  </a:cubicBezTo>
                  <a:lnTo>
                    <a:pt x="1651293" y="755582"/>
                  </a:lnTo>
                  <a:cubicBezTo>
                    <a:pt x="1651293" y="762459"/>
                    <a:pt x="1648561" y="769055"/>
                    <a:pt x="1643698" y="773918"/>
                  </a:cubicBezTo>
                  <a:cubicBezTo>
                    <a:pt x="1638835" y="778781"/>
                    <a:pt x="1632239" y="781513"/>
                    <a:pt x="1625362" y="781513"/>
                  </a:cubicBezTo>
                  <a:lnTo>
                    <a:pt x="25931" y="781513"/>
                  </a:lnTo>
                  <a:cubicBezTo>
                    <a:pt x="19054" y="781513"/>
                    <a:pt x="12458" y="778781"/>
                    <a:pt x="7595" y="773918"/>
                  </a:cubicBezTo>
                  <a:cubicBezTo>
                    <a:pt x="2732" y="769055"/>
                    <a:pt x="0" y="762459"/>
                    <a:pt x="0" y="755582"/>
                  </a:cubicBezTo>
                  <a:lnTo>
                    <a:pt x="0" y="25931"/>
                  </a:lnTo>
                  <a:cubicBezTo>
                    <a:pt x="0" y="19054"/>
                    <a:pt x="2732" y="12458"/>
                    <a:pt x="7595" y="7595"/>
                  </a:cubicBezTo>
                  <a:cubicBezTo>
                    <a:pt x="12458" y="2732"/>
                    <a:pt x="19054" y="0"/>
                    <a:pt x="25931" y="0"/>
                  </a:cubicBezTo>
                  <a:close/>
                </a:path>
              </a:pathLst>
            </a:custGeom>
            <a:solidFill>
              <a:srgbClr val="E9480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0"/>
              <a:ext cx="1651293" cy="8767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4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743182" y="6900495"/>
            <a:ext cx="2080142" cy="376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89"/>
              </a:lnSpc>
            </a:pPr>
            <a:r>
              <a:rPr lang="en-US" sz="1417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IMPORTANCE OF DEEPFAKE DETECTION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1823323" y="6900495"/>
            <a:ext cx="0" cy="458342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9969817" y="5831891"/>
            <a:ext cx="761088" cy="801913"/>
          </a:xfrm>
          <a:custGeom>
            <a:avLst/>
            <a:gdLst/>
            <a:ahLst/>
            <a:cxnLst/>
            <a:rect l="l" t="t" r="r" b="b"/>
            <a:pathLst>
              <a:path w="761088" h="801913">
                <a:moveTo>
                  <a:pt x="0" y="0"/>
                </a:moveTo>
                <a:lnTo>
                  <a:pt x="761088" y="0"/>
                </a:lnTo>
                <a:lnTo>
                  <a:pt x="761088" y="801913"/>
                </a:lnTo>
                <a:lnTo>
                  <a:pt x="0" y="8019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Freeform 16"/>
          <p:cNvSpPr/>
          <p:nvPr/>
        </p:nvSpPr>
        <p:spPr>
          <a:xfrm>
            <a:off x="10219840" y="2673221"/>
            <a:ext cx="1022130" cy="832571"/>
          </a:xfrm>
          <a:custGeom>
            <a:avLst/>
            <a:gdLst/>
            <a:ahLst/>
            <a:cxnLst/>
            <a:rect l="l" t="t" r="r" b="b"/>
            <a:pathLst>
              <a:path w="1022130" h="832571">
                <a:moveTo>
                  <a:pt x="0" y="0"/>
                </a:moveTo>
                <a:lnTo>
                  <a:pt x="1022130" y="0"/>
                </a:lnTo>
                <a:lnTo>
                  <a:pt x="1022130" y="832571"/>
                </a:lnTo>
                <a:lnTo>
                  <a:pt x="0" y="8325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TextBox 17"/>
          <p:cNvSpPr txBox="1"/>
          <p:nvPr/>
        </p:nvSpPr>
        <p:spPr>
          <a:xfrm>
            <a:off x="1635757" y="4528249"/>
            <a:ext cx="7508243" cy="67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70"/>
              </a:lnSpc>
            </a:pPr>
            <a:r>
              <a:rPr lang="en-US" sz="4299" b="1">
                <a:solidFill>
                  <a:srgbClr val="242424"/>
                </a:solidFill>
                <a:latin typeface="Agrandir Grand Heavy"/>
                <a:ea typeface="Agrandir Grand Heavy"/>
                <a:cs typeface="Agrandir Grand Heavy"/>
                <a:sym typeface="Agrandir Grand Heavy"/>
              </a:rPr>
              <a:t>INTRODUCTION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35757" y="3932307"/>
            <a:ext cx="1327040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01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369436" y="3264267"/>
            <a:ext cx="2916183" cy="1509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Deepfakes are synthetic media generated using Artificial Intelligence where a person’s face or identity is replaced with another.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369436" y="6258512"/>
            <a:ext cx="2916183" cy="2099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31" lvl="1" indent="-183515" algn="l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Prevent misinformation</a:t>
            </a:r>
          </a:p>
          <a:p>
            <a:pPr marL="367031" lvl="1" indent="-183515" algn="l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Protect digital identity</a:t>
            </a:r>
          </a:p>
          <a:p>
            <a:pPr marL="367031" lvl="1" indent="-183515" algn="l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Stop financial &amp; social scams</a:t>
            </a:r>
          </a:p>
          <a:p>
            <a:pPr marL="367031" lvl="1" indent="-183515" algn="l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Support media authenticity verification</a:t>
            </a:r>
          </a:p>
          <a:p>
            <a:pPr algn="l">
              <a:lnSpc>
                <a:spcPts val="2380"/>
              </a:lnSpc>
            </a:pPr>
            <a:endParaRPr lang="en-US" sz="1700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676359">
            <a:off x="-227560" y="455732"/>
            <a:ext cx="10474737" cy="14625104"/>
          </a:xfrm>
          <a:custGeom>
            <a:avLst/>
            <a:gdLst/>
            <a:ahLst/>
            <a:cxnLst/>
            <a:rect l="l" t="t" r="r" b="b"/>
            <a:pathLst>
              <a:path w="10474737" h="14625104">
                <a:moveTo>
                  <a:pt x="0" y="0"/>
                </a:moveTo>
                <a:lnTo>
                  <a:pt x="10474737" y="0"/>
                </a:lnTo>
                <a:lnTo>
                  <a:pt x="10474737" y="14625104"/>
                </a:lnTo>
                <a:lnTo>
                  <a:pt x="0" y="146251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3310149" y="4670607"/>
            <a:ext cx="11667702" cy="4128508"/>
            <a:chOff x="0" y="0"/>
            <a:chExt cx="3072975" cy="108734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072975" cy="1087344"/>
            </a:xfrm>
            <a:custGeom>
              <a:avLst/>
              <a:gdLst/>
              <a:ahLst/>
              <a:cxnLst/>
              <a:rect l="l" t="t" r="r" b="b"/>
              <a:pathLst>
                <a:path w="3072975" h="1087344">
                  <a:moveTo>
                    <a:pt x="16588" y="0"/>
                  </a:moveTo>
                  <a:lnTo>
                    <a:pt x="3056387" y="0"/>
                  </a:lnTo>
                  <a:cubicBezTo>
                    <a:pt x="3060786" y="0"/>
                    <a:pt x="3065006" y="1748"/>
                    <a:pt x="3068116" y="4859"/>
                  </a:cubicBezTo>
                  <a:cubicBezTo>
                    <a:pt x="3071227" y="7970"/>
                    <a:pt x="3072975" y="12189"/>
                    <a:pt x="3072975" y="16588"/>
                  </a:cubicBezTo>
                  <a:lnTo>
                    <a:pt x="3072975" y="1070755"/>
                  </a:lnTo>
                  <a:cubicBezTo>
                    <a:pt x="3072975" y="1075155"/>
                    <a:pt x="3071227" y="1079374"/>
                    <a:pt x="3068116" y="1082485"/>
                  </a:cubicBezTo>
                  <a:cubicBezTo>
                    <a:pt x="3065006" y="1085596"/>
                    <a:pt x="3060786" y="1087344"/>
                    <a:pt x="3056387" y="1087344"/>
                  </a:cubicBezTo>
                  <a:lnTo>
                    <a:pt x="16588" y="1087344"/>
                  </a:lnTo>
                  <a:cubicBezTo>
                    <a:pt x="12189" y="1087344"/>
                    <a:pt x="7970" y="1085596"/>
                    <a:pt x="4859" y="1082485"/>
                  </a:cubicBezTo>
                  <a:cubicBezTo>
                    <a:pt x="1748" y="1079374"/>
                    <a:pt x="0" y="1075155"/>
                    <a:pt x="0" y="1070755"/>
                  </a:cubicBezTo>
                  <a:lnTo>
                    <a:pt x="0" y="16588"/>
                  </a:lnTo>
                  <a:cubicBezTo>
                    <a:pt x="0" y="12189"/>
                    <a:pt x="1748" y="7970"/>
                    <a:pt x="4859" y="4859"/>
                  </a:cubicBezTo>
                  <a:cubicBezTo>
                    <a:pt x="7970" y="1748"/>
                    <a:pt x="12189" y="0"/>
                    <a:pt x="16588" y="0"/>
                  </a:cubicBezTo>
                  <a:close/>
                </a:path>
              </a:pathLst>
            </a:custGeom>
            <a:solidFill>
              <a:srgbClr val="F0F0F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0"/>
              <a:ext cx="3072975" cy="1182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116269" y="2906255"/>
            <a:ext cx="6902698" cy="2803564"/>
            <a:chOff x="0" y="0"/>
            <a:chExt cx="1817995" cy="73838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17994" cy="738387"/>
            </a:xfrm>
            <a:custGeom>
              <a:avLst/>
              <a:gdLst/>
              <a:ahLst/>
              <a:cxnLst/>
              <a:rect l="l" t="t" r="r" b="b"/>
              <a:pathLst>
                <a:path w="1817994" h="738387">
                  <a:moveTo>
                    <a:pt x="32526" y="0"/>
                  </a:moveTo>
                  <a:lnTo>
                    <a:pt x="1785469" y="0"/>
                  </a:lnTo>
                  <a:cubicBezTo>
                    <a:pt x="1803432" y="0"/>
                    <a:pt x="1817994" y="14562"/>
                    <a:pt x="1817994" y="32526"/>
                  </a:cubicBezTo>
                  <a:lnTo>
                    <a:pt x="1817994" y="705861"/>
                  </a:lnTo>
                  <a:cubicBezTo>
                    <a:pt x="1817994" y="723825"/>
                    <a:pt x="1803432" y="738387"/>
                    <a:pt x="1785469" y="738387"/>
                  </a:cubicBezTo>
                  <a:lnTo>
                    <a:pt x="32526" y="738387"/>
                  </a:lnTo>
                  <a:cubicBezTo>
                    <a:pt x="14562" y="738387"/>
                    <a:pt x="0" y="723825"/>
                    <a:pt x="0" y="705861"/>
                  </a:cubicBezTo>
                  <a:lnTo>
                    <a:pt x="0" y="32526"/>
                  </a:lnTo>
                  <a:cubicBezTo>
                    <a:pt x="0" y="14562"/>
                    <a:pt x="14562" y="0"/>
                    <a:pt x="32526" y="0"/>
                  </a:cubicBezTo>
                  <a:close/>
                </a:path>
              </a:pathLst>
            </a:custGeom>
            <a:solidFill>
              <a:srgbClr val="E9480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0"/>
              <a:ext cx="1817995" cy="833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4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5108502" y="3482757"/>
            <a:ext cx="1033592" cy="1020437"/>
          </a:xfrm>
          <a:custGeom>
            <a:avLst/>
            <a:gdLst/>
            <a:ahLst/>
            <a:cxnLst/>
            <a:rect l="l" t="t" r="r" b="b"/>
            <a:pathLst>
              <a:path w="1033592" h="1020437">
                <a:moveTo>
                  <a:pt x="0" y="0"/>
                </a:moveTo>
                <a:lnTo>
                  <a:pt x="1033591" y="0"/>
                </a:lnTo>
                <a:lnTo>
                  <a:pt x="1033591" y="1020437"/>
                </a:lnTo>
                <a:lnTo>
                  <a:pt x="0" y="10204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4222639" y="4635391"/>
            <a:ext cx="2805317" cy="426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47"/>
              </a:lnSpc>
            </a:pPr>
            <a:r>
              <a:rPr lang="en-US" sz="2799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ROLE OF AI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269033" y="2906255"/>
            <a:ext cx="6902698" cy="2803564"/>
            <a:chOff x="0" y="0"/>
            <a:chExt cx="1817995" cy="73838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17994" cy="738387"/>
            </a:xfrm>
            <a:custGeom>
              <a:avLst/>
              <a:gdLst/>
              <a:ahLst/>
              <a:cxnLst/>
              <a:rect l="l" t="t" r="r" b="b"/>
              <a:pathLst>
                <a:path w="1817994" h="738387">
                  <a:moveTo>
                    <a:pt x="32526" y="0"/>
                  </a:moveTo>
                  <a:lnTo>
                    <a:pt x="1785469" y="0"/>
                  </a:lnTo>
                  <a:cubicBezTo>
                    <a:pt x="1803432" y="0"/>
                    <a:pt x="1817994" y="14562"/>
                    <a:pt x="1817994" y="32526"/>
                  </a:cubicBezTo>
                  <a:lnTo>
                    <a:pt x="1817994" y="705861"/>
                  </a:lnTo>
                  <a:cubicBezTo>
                    <a:pt x="1817994" y="723825"/>
                    <a:pt x="1803432" y="738387"/>
                    <a:pt x="1785469" y="738387"/>
                  </a:cubicBezTo>
                  <a:lnTo>
                    <a:pt x="32526" y="738387"/>
                  </a:lnTo>
                  <a:cubicBezTo>
                    <a:pt x="14562" y="738387"/>
                    <a:pt x="0" y="723825"/>
                    <a:pt x="0" y="705861"/>
                  </a:cubicBezTo>
                  <a:lnTo>
                    <a:pt x="0" y="32526"/>
                  </a:lnTo>
                  <a:cubicBezTo>
                    <a:pt x="0" y="14562"/>
                    <a:pt x="14562" y="0"/>
                    <a:pt x="32526" y="0"/>
                  </a:cubicBezTo>
                  <a:close/>
                </a:path>
              </a:pathLst>
            </a:custGeom>
            <a:solidFill>
              <a:srgbClr val="E9480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0"/>
              <a:ext cx="1817995" cy="833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4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2164698" y="3482757"/>
            <a:ext cx="1111367" cy="1020437"/>
          </a:xfrm>
          <a:custGeom>
            <a:avLst/>
            <a:gdLst/>
            <a:ahLst/>
            <a:cxnLst/>
            <a:rect l="l" t="t" r="r" b="b"/>
            <a:pathLst>
              <a:path w="1111367" h="1020437">
                <a:moveTo>
                  <a:pt x="0" y="0"/>
                </a:moveTo>
                <a:lnTo>
                  <a:pt x="1111367" y="0"/>
                </a:lnTo>
                <a:lnTo>
                  <a:pt x="1111367" y="1020437"/>
                </a:lnTo>
                <a:lnTo>
                  <a:pt x="0" y="10204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5389878" y="1500817"/>
            <a:ext cx="7508243" cy="67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70"/>
              </a:lnSpc>
            </a:pPr>
            <a:r>
              <a:rPr lang="en-US" sz="4299" b="1">
                <a:solidFill>
                  <a:srgbClr val="242424"/>
                </a:solidFill>
                <a:latin typeface="Agrandir Grand Heavy"/>
                <a:ea typeface="Agrandir Grand Heavy"/>
                <a:cs typeface="Agrandir Grand Heavy"/>
                <a:sym typeface="Agrandir Grand Heavy"/>
              </a:rPr>
              <a:t>INTRODUCTION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80480" y="904875"/>
            <a:ext cx="1327040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338125" y="4635391"/>
            <a:ext cx="3449605" cy="426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7"/>
              </a:lnSpc>
            </a:pPr>
            <a:r>
              <a:rPr lang="en-US" sz="2799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PROJECT IDEA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2735437" y="5709819"/>
            <a:ext cx="5779720" cy="3277835"/>
            <a:chOff x="0" y="0"/>
            <a:chExt cx="1522231" cy="86329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22231" cy="863298"/>
            </a:xfrm>
            <a:custGeom>
              <a:avLst/>
              <a:gdLst/>
              <a:ahLst/>
              <a:cxnLst/>
              <a:rect l="l" t="t" r="r" b="b"/>
              <a:pathLst>
                <a:path w="1522231" h="863298">
                  <a:moveTo>
                    <a:pt x="123234" y="0"/>
                  </a:moveTo>
                  <a:lnTo>
                    <a:pt x="1398997" y="0"/>
                  </a:lnTo>
                  <a:cubicBezTo>
                    <a:pt x="1431681" y="0"/>
                    <a:pt x="1463026" y="12984"/>
                    <a:pt x="1486137" y="36094"/>
                  </a:cubicBezTo>
                  <a:cubicBezTo>
                    <a:pt x="1509247" y="59205"/>
                    <a:pt x="1522231" y="90550"/>
                    <a:pt x="1522231" y="123234"/>
                  </a:cubicBezTo>
                  <a:lnTo>
                    <a:pt x="1522231" y="740064"/>
                  </a:lnTo>
                  <a:cubicBezTo>
                    <a:pt x="1522231" y="772748"/>
                    <a:pt x="1509247" y="804093"/>
                    <a:pt x="1486137" y="827204"/>
                  </a:cubicBezTo>
                  <a:cubicBezTo>
                    <a:pt x="1463026" y="850315"/>
                    <a:pt x="1431681" y="863298"/>
                    <a:pt x="1398997" y="863298"/>
                  </a:cubicBezTo>
                  <a:lnTo>
                    <a:pt x="123234" y="863298"/>
                  </a:lnTo>
                  <a:cubicBezTo>
                    <a:pt x="55174" y="863298"/>
                    <a:pt x="0" y="808125"/>
                    <a:pt x="0" y="740064"/>
                  </a:cubicBezTo>
                  <a:lnTo>
                    <a:pt x="0" y="123234"/>
                  </a:lnTo>
                  <a:cubicBezTo>
                    <a:pt x="0" y="90550"/>
                    <a:pt x="12984" y="59205"/>
                    <a:pt x="36094" y="36094"/>
                  </a:cubicBezTo>
                  <a:cubicBezTo>
                    <a:pt x="59205" y="12984"/>
                    <a:pt x="90550" y="0"/>
                    <a:pt x="123234" y="0"/>
                  </a:cubicBezTo>
                  <a:close/>
                </a:path>
              </a:pathLst>
            </a:custGeom>
            <a:solidFill>
              <a:srgbClr val="FFB093">
                <a:alpha val="49804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95250"/>
              <a:ext cx="1522231" cy="958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4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807520" y="5709819"/>
            <a:ext cx="5779720" cy="3277835"/>
            <a:chOff x="0" y="0"/>
            <a:chExt cx="1522231" cy="86329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522231" cy="863298"/>
            </a:xfrm>
            <a:custGeom>
              <a:avLst/>
              <a:gdLst/>
              <a:ahLst/>
              <a:cxnLst/>
              <a:rect l="l" t="t" r="r" b="b"/>
              <a:pathLst>
                <a:path w="1522231" h="863298">
                  <a:moveTo>
                    <a:pt x="123234" y="0"/>
                  </a:moveTo>
                  <a:lnTo>
                    <a:pt x="1398997" y="0"/>
                  </a:lnTo>
                  <a:cubicBezTo>
                    <a:pt x="1431681" y="0"/>
                    <a:pt x="1463026" y="12984"/>
                    <a:pt x="1486137" y="36094"/>
                  </a:cubicBezTo>
                  <a:cubicBezTo>
                    <a:pt x="1509247" y="59205"/>
                    <a:pt x="1522231" y="90550"/>
                    <a:pt x="1522231" y="123234"/>
                  </a:cubicBezTo>
                  <a:lnTo>
                    <a:pt x="1522231" y="740064"/>
                  </a:lnTo>
                  <a:cubicBezTo>
                    <a:pt x="1522231" y="772748"/>
                    <a:pt x="1509247" y="804093"/>
                    <a:pt x="1486137" y="827204"/>
                  </a:cubicBezTo>
                  <a:cubicBezTo>
                    <a:pt x="1463026" y="850315"/>
                    <a:pt x="1431681" y="863298"/>
                    <a:pt x="1398997" y="863298"/>
                  </a:cubicBezTo>
                  <a:lnTo>
                    <a:pt x="123234" y="863298"/>
                  </a:lnTo>
                  <a:cubicBezTo>
                    <a:pt x="55174" y="863298"/>
                    <a:pt x="0" y="808125"/>
                    <a:pt x="0" y="740064"/>
                  </a:cubicBezTo>
                  <a:lnTo>
                    <a:pt x="0" y="123234"/>
                  </a:lnTo>
                  <a:cubicBezTo>
                    <a:pt x="0" y="90550"/>
                    <a:pt x="12984" y="59205"/>
                    <a:pt x="36094" y="36094"/>
                  </a:cubicBezTo>
                  <a:cubicBezTo>
                    <a:pt x="59205" y="12984"/>
                    <a:pt x="90550" y="0"/>
                    <a:pt x="123234" y="0"/>
                  </a:cubicBezTo>
                  <a:close/>
                </a:path>
              </a:pathLst>
            </a:custGeom>
            <a:solidFill>
              <a:srgbClr val="FFB093">
                <a:alpha val="49804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95250"/>
              <a:ext cx="1522231" cy="958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4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3811827" y="6098444"/>
            <a:ext cx="3626941" cy="180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4"/>
              </a:lnSpc>
              <a:spcBef>
                <a:spcPct val="0"/>
              </a:spcBef>
            </a:pPr>
            <a:r>
              <a:rPr lang="en-US" sz="198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AI models can detect:</a:t>
            </a:r>
          </a:p>
          <a:p>
            <a:pPr algn="ctr">
              <a:lnSpc>
                <a:spcPts val="2784"/>
              </a:lnSpc>
              <a:spcBef>
                <a:spcPct val="0"/>
              </a:spcBef>
            </a:pPr>
            <a:r>
              <a:rPr lang="en-US" sz="198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Pixel-level inconsistencies</a:t>
            </a:r>
          </a:p>
          <a:p>
            <a:pPr algn="ctr">
              <a:lnSpc>
                <a:spcPts val="2784"/>
              </a:lnSpc>
              <a:spcBef>
                <a:spcPct val="0"/>
              </a:spcBef>
            </a:pPr>
            <a:r>
              <a:rPr lang="en-US" sz="198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Abnormal facial textures</a:t>
            </a:r>
          </a:p>
          <a:p>
            <a:pPr algn="ctr">
              <a:lnSpc>
                <a:spcPts val="2784"/>
              </a:lnSpc>
              <a:spcBef>
                <a:spcPct val="0"/>
              </a:spcBef>
            </a:pPr>
            <a:r>
              <a:rPr lang="en-US" sz="198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Blending artifacts</a:t>
            </a:r>
          </a:p>
          <a:p>
            <a:pPr algn="ctr">
              <a:lnSpc>
                <a:spcPts val="2784"/>
              </a:lnSpc>
              <a:spcBef>
                <a:spcPct val="0"/>
              </a:spcBef>
            </a:pPr>
            <a:r>
              <a:rPr lang="en-US" sz="198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Lighting &amp; shadow mismatches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382432" y="6098444"/>
            <a:ext cx="4675900" cy="180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4"/>
              </a:lnSpc>
              <a:spcBef>
                <a:spcPct val="0"/>
              </a:spcBef>
            </a:pPr>
            <a:r>
              <a:rPr lang="en-US" sz="198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I developed a Deep Learning-based web system that classifies images into:</a:t>
            </a:r>
          </a:p>
          <a:p>
            <a:pPr algn="ctr">
              <a:lnSpc>
                <a:spcPts val="2784"/>
              </a:lnSpc>
              <a:spcBef>
                <a:spcPct val="0"/>
              </a:spcBef>
            </a:pPr>
            <a:r>
              <a:rPr lang="en-US" sz="198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→ Real Face</a:t>
            </a:r>
          </a:p>
          <a:p>
            <a:pPr algn="ctr">
              <a:lnSpc>
                <a:spcPts val="2784"/>
              </a:lnSpc>
              <a:spcBef>
                <a:spcPct val="0"/>
              </a:spcBef>
            </a:pPr>
            <a:r>
              <a:rPr lang="en-US" sz="198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→ Deepfake Face</a:t>
            </a:r>
          </a:p>
          <a:p>
            <a:pPr algn="ctr">
              <a:lnSpc>
                <a:spcPts val="2784"/>
              </a:lnSpc>
              <a:spcBef>
                <a:spcPct val="0"/>
              </a:spcBef>
            </a:pPr>
            <a:r>
              <a:rPr lang="en-US" sz="198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Using Transfer Learning with ResNet18</a:t>
            </a:r>
          </a:p>
        </p:txBody>
      </p:sp>
      <p:pic>
        <p:nvPicPr>
          <p:cNvPr id="26" name="Picture 2" descr="Title: Regulating Deepfake Technology: Balancing Innovation and  Cybersecurity">
            <a:extLst>
              <a:ext uri="{FF2B5EF4-FFF2-40B4-BE49-F238E27FC236}">
                <a16:creationId xmlns:a16="http://schemas.microsoft.com/office/drawing/2014/main" id="{A419D48A-A030-546B-41A6-F033226A9E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000308" y="3828801"/>
            <a:ext cx="3626941" cy="2040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181138">
            <a:off x="10105415" y="-562482"/>
            <a:ext cx="10474737" cy="14625104"/>
          </a:xfrm>
          <a:custGeom>
            <a:avLst/>
            <a:gdLst/>
            <a:ahLst/>
            <a:cxnLst/>
            <a:rect l="l" t="t" r="r" b="b"/>
            <a:pathLst>
              <a:path w="10474737" h="14625104">
                <a:moveTo>
                  <a:pt x="0" y="0"/>
                </a:moveTo>
                <a:lnTo>
                  <a:pt x="10474736" y="0"/>
                </a:lnTo>
                <a:lnTo>
                  <a:pt x="10474736" y="14625104"/>
                </a:lnTo>
                <a:lnTo>
                  <a:pt x="0" y="146251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0146157" y="3219421"/>
            <a:ext cx="5953043" cy="1201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70"/>
              </a:lnSpc>
            </a:pPr>
            <a:r>
              <a:rPr lang="en-US" sz="4299" b="1">
                <a:solidFill>
                  <a:srgbClr val="242424"/>
                </a:solidFill>
                <a:latin typeface="Agrandir Grand Heavy"/>
                <a:ea typeface="Agrandir Grand Heavy"/>
                <a:cs typeface="Agrandir Grand Heavy"/>
                <a:sym typeface="Agrandir Grand Heavy"/>
              </a:rPr>
              <a:t>PROBLEM STATEMENT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146157" y="2623479"/>
            <a:ext cx="1327040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03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2332771" y="1237165"/>
            <a:ext cx="6222236" cy="7812670"/>
            <a:chOff x="0" y="0"/>
            <a:chExt cx="1638778" cy="20576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38778" cy="2057658"/>
            </a:xfrm>
            <a:custGeom>
              <a:avLst/>
              <a:gdLst/>
              <a:ahLst/>
              <a:cxnLst/>
              <a:rect l="l" t="t" r="r" b="b"/>
              <a:pathLst>
                <a:path w="1638778" h="2057658">
                  <a:moveTo>
                    <a:pt x="31106" y="0"/>
                  </a:moveTo>
                  <a:lnTo>
                    <a:pt x="1607672" y="0"/>
                  </a:lnTo>
                  <a:cubicBezTo>
                    <a:pt x="1624851" y="0"/>
                    <a:pt x="1638778" y="13927"/>
                    <a:pt x="1638778" y="31106"/>
                  </a:cubicBezTo>
                  <a:lnTo>
                    <a:pt x="1638778" y="2026552"/>
                  </a:lnTo>
                  <a:cubicBezTo>
                    <a:pt x="1638778" y="2043731"/>
                    <a:pt x="1624851" y="2057658"/>
                    <a:pt x="1607672" y="2057658"/>
                  </a:cubicBezTo>
                  <a:lnTo>
                    <a:pt x="31106" y="2057658"/>
                  </a:lnTo>
                  <a:cubicBezTo>
                    <a:pt x="13927" y="2057658"/>
                    <a:pt x="0" y="2043731"/>
                    <a:pt x="0" y="2026552"/>
                  </a:cubicBezTo>
                  <a:lnTo>
                    <a:pt x="0" y="31106"/>
                  </a:lnTo>
                  <a:cubicBezTo>
                    <a:pt x="0" y="13927"/>
                    <a:pt x="13927" y="0"/>
                    <a:pt x="31106" y="0"/>
                  </a:cubicBezTo>
                  <a:close/>
                </a:path>
              </a:pathLst>
            </a:custGeom>
            <a:solidFill>
              <a:srgbClr val="F0F0F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1638778" cy="2152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6082528"/>
            <a:ext cx="10618553" cy="2967307"/>
            <a:chOff x="0" y="0"/>
            <a:chExt cx="2796656" cy="78151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96656" cy="781513"/>
            </a:xfrm>
            <a:custGeom>
              <a:avLst/>
              <a:gdLst/>
              <a:ahLst/>
              <a:cxnLst/>
              <a:rect l="l" t="t" r="r" b="b"/>
              <a:pathLst>
                <a:path w="2796656" h="781513">
                  <a:moveTo>
                    <a:pt x="15311" y="0"/>
                  </a:moveTo>
                  <a:lnTo>
                    <a:pt x="2781345" y="0"/>
                  </a:lnTo>
                  <a:cubicBezTo>
                    <a:pt x="2789801" y="0"/>
                    <a:pt x="2796656" y="6855"/>
                    <a:pt x="2796656" y="15311"/>
                  </a:cubicBezTo>
                  <a:lnTo>
                    <a:pt x="2796656" y="766202"/>
                  </a:lnTo>
                  <a:cubicBezTo>
                    <a:pt x="2796656" y="774658"/>
                    <a:pt x="2789801" y="781513"/>
                    <a:pt x="2781345" y="781513"/>
                  </a:cubicBezTo>
                  <a:lnTo>
                    <a:pt x="15311" y="781513"/>
                  </a:lnTo>
                  <a:cubicBezTo>
                    <a:pt x="6855" y="781513"/>
                    <a:pt x="0" y="774658"/>
                    <a:pt x="0" y="766202"/>
                  </a:cubicBezTo>
                  <a:lnTo>
                    <a:pt x="0" y="15311"/>
                  </a:lnTo>
                  <a:cubicBezTo>
                    <a:pt x="0" y="6855"/>
                    <a:pt x="6855" y="0"/>
                    <a:pt x="15311" y="0"/>
                  </a:cubicBezTo>
                  <a:close/>
                </a:path>
              </a:pathLst>
            </a:custGeom>
            <a:solidFill>
              <a:srgbClr val="E9480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0"/>
              <a:ext cx="2796656" cy="8767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4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34687" y="6464012"/>
            <a:ext cx="5483717" cy="2532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5"/>
              </a:lnSpc>
            </a:pPr>
            <a:r>
              <a:rPr lang="en-US" sz="2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DEEPFAKE CONTENT IS GROWING RAPIDLY AND:</a:t>
            </a:r>
          </a:p>
          <a:p>
            <a:pPr marL="539751" lvl="1" indent="-269876" algn="l">
              <a:lnSpc>
                <a:spcPts val="2275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CANNOT BE RELIABLY DETECTED BY HUMANS</a:t>
            </a:r>
          </a:p>
          <a:p>
            <a:pPr marL="539751" lvl="1" indent="-269876" algn="l">
              <a:lnSpc>
                <a:spcPts val="2275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CAUSES IDENTITY THEFT AND FAKE EVIDENCE</a:t>
            </a:r>
          </a:p>
          <a:p>
            <a:pPr marL="539751" lvl="1" indent="-269876" algn="l">
              <a:lnSpc>
                <a:spcPts val="2275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SPREADS MISINFORMATION ONLINE</a:t>
            </a:r>
          </a:p>
          <a:p>
            <a:pPr algn="l">
              <a:lnSpc>
                <a:spcPts val="1911"/>
              </a:lnSpc>
            </a:pPr>
            <a:endParaRPr lang="en-US" sz="25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028830" y="6885969"/>
            <a:ext cx="0" cy="1422019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7238380" y="6345393"/>
            <a:ext cx="3867298" cy="2651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9"/>
              </a:lnSpc>
            </a:pPr>
            <a:r>
              <a:rPr lang="en-US" sz="1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CHALLENGE:</a:t>
            </a:r>
          </a:p>
          <a:p>
            <a:pPr algn="l">
              <a:lnSpc>
                <a:spcPts val="1729"/>
              </a:lnSpc>
            </a:pPr>
            <a:endParaRPr lang="en-US" sz="1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1729"/>
              </a:lnSpc>
            </a:pPr>
            <a:r>
              <a:rPr lang="en-US" sz="1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 DESIGN AN AUTOMATED SYSTEM THAT:</a:t>
            </a:r>
          </a:p>
          <a:p>
            <a:pPr marL="410214" lvl="1" indent="-205107" algn="l">
              <a:lnSpc>
                <a:spcPts val="1729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ACCEPTS AN INPUT FACIAL IMAGE</a:t>
            </a:r>
          </a:p>
          <a:p>
            <a:pPr marL="410214" lvl="1" indent="-205107" algn="l">
              <a:lnSpc>
                <a:spcPts val="1729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DETECTS WHETHER IT IS REAL OR DEEPFAKE</a:t>
            </a:r>
          </a:p>
          <a:p>
            <a:pPr marL="410214" lvl="1" indent="-205107" algn="l">
              <a:lnSpc>
                <a:spcPts val="1729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WORKS IN REAL-TIME</a:t>
            </a:r>
          </a:p>
          <a:p>
            <a:pPr marL="410214" lvl="1" indent="-205107" algn="l">
              <a:lnSpc>
                <a:spcPts val="1729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PROVIDES RELIABLE PREDICTION CONFIDENCE</a:t>
            </a:r>
          </a:p>
          <a:p>
            <a:pPr algn="l">
              <a:lnSpc>
                <a:spcPts val="1729"/>
              </a:lnSpc>
            </a:pPr>
            <a:endParaRPr lang="en-US" sz="1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26" name="Picture 2" descr="Title: Regulating Deepfake Technology: Balancing Innovation and  Cybersecurity">
            <a:extLst>
              <a:ext uri="{FF2B5EF4-FFF2-40B4-BE49-F238E27FC236}">
                <a16:creationId xmlns:a16="http://schemas.microsoft.com/office/drawing/2014/main" id="{7F39B18B-5B22-D008-8208-E09E8B631F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866" y="1730482"/>
            <a:ext cx="76200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Mastering Deepfake Technology: From Creation to Detection | Udemy">
            <a:extLst>
              <a:ext uri="{FF2B5EF4-FFF2-40B4-BE49-F238E27FC236}">
                <a16:creationId xmlns:a16="http://schemas.microsoft.com/office/drawing/2014/main" id="{9D861444-3CEE-D975-DCAC-02963BCAA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3800" y="1306614"/>
            <a:ext cx="2438818" cy="1372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676359">
            <a:off x="-4208668" y="271615"/>
            <a:ext cx="10474737" cy="14625104"/>
          </a:xfrm>
          <a:custGeom>
            <a:avLst/>
            <a:gdLst/>
            <a:ahLst/>
            <a:cxnLst/>
            <a:rect l="l" t="t" r="r" b="b"/>
            <a:pathLst>
              <a:path w="10474737" h="14625104">
                <a:moveTo>
                  <a:pt x="0" y="0"/>
                </a:moveTo>
                <a:lnTo>
                  <a:pt x="10474736" y="0"/>
                </a:lnTo>
                <a:lnTo>
                  <a:pt x="10474736" y="14625104"/>
                </a:lnTo>
                <a:lnTo>
                  <a:pt x="0" y="146251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635757" y="4778595"/>
            <a:ext cx="5953043" cy="1201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70"/>
              </a:lnSpc>
            </a:pPr>
            <a:r>
              <a:rPr lang="en-US" sz="4299" b="1">
                <a:solidFill>
                  <a:srgbClr val="242424"/>
                </a:solidFill>
                <a:latin typeface="Agrandir Grand Heavy"/>
                <a:ea typeface="Agrandir Grand Heavy"/>
                <a:cs typeface="Agrandir Grand Heavy"/>
                <a:sym typeface="Agrandir Grand Heavy"/>
              </a:rPr>
              <a:t>RESEARCH OBJECTIVES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35757" y="4182653"/>
            <a:ext cx="1327040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04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944818" y="1237165"/>
            <a:ext cx="6222236" cy="8326171"/>
            <a:chOff x="0" y="0"/>
            <a:chExt cx="1638778" cy="219290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38778" cy="2192901"/>
            </a:xfrm>
            <a:custGeom>
              <a:avLst/>
              <a:gdLst/>
              <a:ahLst/>
              <a:cxnLst/>
              <a:rect l="l" t="t" r="r" b="b"/>
              <a:pathLst>
                <a:path w="1638778" h="2192901">
                  <a:moveTo>
                    <a:pt x="31106" y="0"/>
                  </a:moveTo>
                  <a:lnTo>
                    <a:pt x="1607672" y="0"/>
                  </a:lnTo>
                  <a:cubicBezTo>
                    <a:pt x="1624851" y="0"/>
                    <a:pt x="1638778" y="13927"/>
                    <a:pt x="1638778" y="31106"/>
                  </a:cubicBezTo>
                  <a:lnTo>
                    <a:pt x="1638778" y="2161795"/>
                  </a:lnTo>
                  <a:cubicBezTo>
                    <a:pt x="1638778" y="2178975"/>
                    <a:pt x="1624851" y="2192901"/>
                    <a:pt x="1607672" y="2192901"/>
                  </a:cubicBezTo>
                  <a:lnTo>
                    <a:pt x="31106" y="2192901"/>
                  </a:lnTo>
                  <a:cubicBezTo>
                    <a:pt x="13927" y="2192901"/>
                    <a:pt x="0" y="2178975"/>
                    <a:pt x="0" y="2161795"/>
                  </a:cubicBezTo>
                  <a:lnTo>
                    <a:pt x="0" y="31106"/>
                  </a:lnTo>
                  <a:cubicBezTo>
                    <a:pt x="0" y="13927"/>
                    <a:pt x="13927" y="0"/>
                    <a:pt x="31106" y="0"/>
                  </a:cubicBezTo>
                  <a:close/>
                </a:path>
              </a:pathLst>
            </a:custGeom>
            <a:solidFill>
              <a:srgbClr val="F0F0F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1638778" cy="22881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331400" y="1518241"/>
            <a:ext cx="8237838" cy="2967307"/>
            <a:chOff x="0" y="0"/>
            <a:chExt cx="2169636" cy="78151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69636" cy="781513"/>
            </a:xfrm>
            <a:custGeom>
              <a:avLst/>
              <a:gdLst/>
              <a:ahLst/>
              <a:cxnLst/>
              <a:rect l="l" t="t" r="r" b="b"/>
              <a:pathLst>
                <a:path w="2169636" h="781513">
                  <a:moveTo>
                    <a:pt x="19736" y="0"/>
                  </a:moveTo>
                  <a:lnTo>
                    <a:pt x="2149901" y="0"/>
                  </a:lnTo>
                  <a:cubicBezTo>
                    <a:pt x="2155135" y="0"/>
                    <a:pt x="2160155" y="2079"/>
                    <a:pt x="2163856" y="5780"/>
                  </a:cubicBezTo>
                  <a:cubicBezTo>
                    <a:pt x="2167557" y="9482"/>
                    <a:pt x="2169636" y="14502"/>
                    <a:pt x="2169636" y="19736"/>
                  </a:cubicBezTo>
                  <a:lnTo>
                    <a:pt x="2169636" y="761777"/>
                  </a:lnTo>
                  <a:cubicBezTo>
                    <a:pt x="2169636" y="767011"/>
                    <a:pt x="2167557" y="772031"/>
                    <a:pt x="2163856" y="775732"/>
                  </a:cubicBezTo>
                  <a:cubicBezTo>
                    <a:pt x="2160155" y="779434"/>
                    <a:pt x="2155135" y="781513"/>
                    <a:pt x="2149901" y="781513"/>
                  </a:cubicBezTo>
                  <a:lnTo>
                    <a:pt x="19736" y="781513"/>
                  </a:lnTo>
                  <a:cubicBezTo>
                    <a:pt x="14502" y="781513"/>
                    <a:pt x="9482" y="779434"/>
                    <a:pt x="5780" y="775732"/>
                  </a:cubicBezTo>
                  <a:cubicBezTo>
                    <a:pt x="2079" y="772031"/>
                    <a:pt x="0" y="767011"/>
                    <a:pt x="0" y="761777"/>
                  </a:cubicBezTo>
                  <a:lnTo>
                    <a:pt x="0" y="19736"/>
                  </a:lnTo>
                  <a:cubicBezTo>
                    <a:pt x="0" y="14502"/>
                    <a:pt x="2079" y="9482"/>
                    <a:pt x="5780" y="5780"/>
                  </a:cubicBezTo>
                  <a:cubicBezTo>
                    <a:pt x="9482" y="2079"/>
                    <a:pt x="14502" y="0"/>
                    <a:pt x="19736" y="0"/>
                  </a:cubicBezTo>
                  <a:close/>
                </a:path>
              </a:pathLst>
            </a:custGeom>
            <a:solidFill>
              <a:srgbClr val="E9480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0"/>
              <a:ext cx="2169636" cy="8767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4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632785" y="4559843"/>
            <a:ext cx="5209703" cy="5003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194" dirty="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Objectives of the Project</a:t>
            </a:r>
          </a:p>
          <a:p>
            <a:pPr marL="473726" lvl="1" indent="-236863" algn="l">
              <a:lnSpc>
                <a:spcPts val="3071"/>
              </a:lnSpc>
              <a:buAutoNum type="arabicPeriod"/>
            </a:pPr>
            <a:r>
              <a:rPr lang="en-US" sz="2194" dirty="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Build a deep learning model for deepfake image detection</a:t>
            </a:r>
          </a:p>
          <a:p>
            <a:pPr marL="473726" lvl="1" indent="-236863" algn="l">
              <a:lnSpc>
                <a:spcPts val="3071"/>
              </a:lnSpc>
              <a:buAutoNum type="arabicPeriod"/>
            </a:pPr>
            <a:r>
              <a:rPr lang="en-US" sz="2194" dirty="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Use transfer learning to improve accuracy</a:t>
            </a:r>
          </a:p>
          <a:p>
            <a:pPr marL="473726" lvl="1" indent="-236863" algn="l">
              <a:lnSpc>
                <a:spcPts val="3071"/>
              </a:lnSpc>
              <a:buAutoNum type="arabicPeriod"/>
            </a:pPr>
            <a:r>
              <a:rPr lang="en-US" sz="2194" dirty="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Develop a Flask-based web interface</a:t>
            </a:r>
          </a:p>
          <a:p>
            <a:pPr marL="473726" lvl="1" indent="-236863" algn="l">
              <a:lnSpc>
                <a:spcPts val="3071"/>
              </a:lnSpc>
              <a:buAutoNum type="arabicPeriod"/>
            </a:pPr>
            <a:r>
              <a:rPr lang="en-US" sz="2194" dirty="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Provide real-time predictions</a:t>
            </a:r>
          </a:p>
          <a:p>
            <a:pPr marL="473726" lvl="1" indent="-236863" algn="l">
              <a:lnSpc>
                <a:spcPts val="3071"/>
              </a:lnSpc>
              <a:buAutoNum type="arabicPeriod"/>
            </a:pPr>
            <a:r>
              <a:rPr lang="en-US" sz="2194" dirty="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Show confidence scores for predictions</a:t>
            </a:r>
          </a:p>
          <a:p>
            <a:pPr marL="473726" lvl="1" indent="-236863" algn="l">
              <a:lnSpc>
                <a:spcPts val="3071"/>
              </a:lnSpc>
              <a:buAutoNum type="arabicPeriod"/>
            </a:pPr>
            <a:r>
              <a:rPr lang="en-US" sz="2194" dirty="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Add Grad-CAM visualization for model interpretability</a:t>
            </a:r>
          </a:p>
          <a:p>
            <a:pPr algn="l">
              <a:lnSpc>
                <a:spcPts val="3071"/>
              </a:lnSpc>
            </a:pPr>
            <a:endParaRPr lang="en-US" sz="2194" dirty="0">
              <a:solidFill>
                <a:srgbClr val="616161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16" name="AutoShape 4" descr="Deepfake Archives - OWASP Gen AI Security Project">
            <a:extLst>
              <a:ext uri="{FF2B5EF4-FFF2-40B4-BE49-F238E27FC236}">
                <a16:creationId xmlns:a16="http://schemas.microsoft.com/office/drawing/2014/main" id="{114BF8EE-CBD0-6D16-5C8E-44E6B3B780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54" name="Picture 6" descr="Mastering Deepfake Technology: From Creation to Detection | Udemy">
            <a:extLst>
              <a:ext uri="{FF2B5EF4-FFF2-40B4-BE49-F238E27FC236}">
                <a16:creationId xmlns:a16="http://schemas.microsoft.com/office/drawing/2014/main" id="{476DED53-4D48-A605-58D1-1D926D4A29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7982" y="1698801"/>
            <a:ext cx="4784674" cy="2692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141395" flipH="1" flipV="1">
            <a:off x="12698521" y="-3965311"/>
            <a:ext cx="10474737" cy="14625104"/>
          </a:xfrm>
          <a:custGeom>
            <a:avLst/>
            <a:gdLst/>
            <a:ahLst/>
            <a:cxnLst/>
            <a:rect l="l" t="t" r="r" b="b"/>
            <a:pathLst>
              <a:path w="10474737" h="14625104">
                <a:moveTo>
                  <a:pt x="10474737" y="14625104"/>
                </a:moveTo>
                <a:lnTo>
                  <a:pt x="0" y="14625104"/>
                </a:lnTo>
                <a:lnTo>
                  <a:pt x="0" y="0"/>
                </a:lnTo>
                <a:lnTo>
                  <a:pt x="10474737" y="0"/>
                </a:lnTo>
                <a:lnTo>
                  <a:pt x="10474737" y="1462510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1587166" y="4778595"/>
            <a:ext cx="4733728" cy="1725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70"/>
              </a:lnSpc>
            </a:pPr>
            <a:r>
              <a:rPr lang="en-US" sz="4299" b="1">
                <a:solidFill>
                  <a:srgbClr val="242424"/>
                </a:solidFill>
                <a:latin typeface="Agrandir Grand Heavy"/>
                <a:ea typeface="Agrandir Grand Heavy"/>
                <a:cs typeface="Agrandir Grand Heavy"/>
                <a:sym typeface="Agrandir Grand Heavy"/>
              </a:rPr>
              <a:t>PROPOSED SYSTEM OVERVIEW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587166" y="4182653"/>
            <a:ext cx="1327040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05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996037" y="1237165"/>
            <a:ext cx="6222236" cy="7812670"/>
            <a:chOff x="0" y="0"/>
            <a:chExt cx="1638778" cy="20576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38778" cy="2057658"/>
            </a:xfrm>
            <a:custGeom>
              <a:avLst/>
              <a:gdLst/>
              <a:ahLst/>
              <a:cxnLst/>
              <a:rect l="l" t="t" r="r" b="b"/>
              <a:pathLst>
                <a:path w="1638778" h="2057658">
                  <a:moveTo>
                    <a:pt x="31106" y="0"/>
                  </a:moveTo>
                  <a:lnTo>
                    <a:pt x="1607672" y="0"/>
                  </a:lnTo>
                  <a:cubicBezTo>
                    <a:pt x="1624851" y="0"/>
                    <a:pt x="1638778" y="13927"/>
                    <a:pt x="1638778" y="31106"/>
                  </a:cubicBezTo>
                  <a:lnTo>
                    <a:pt x="1638778" y="2026552"/>
                  </a:lnTo>
                  <a:cubicBezTo>
                    <a:pt x="1638778" y="2043731"/>
                    <a:pt x="1624851" y="2057658"/>
                    <a:pt x="1607672" y="2057658"/>
                  </a:cubicBezTo>
                  <a:lnTo>
                    <a:pt x="31106" y="2057658"/>
                  </a:lnTo>
                  <a:cubicBezTo>
                    <a:pt x="13927" y="2057658"/>
                    <a:pt x="0" y="2043731"/>
                    <a:pt x="0" y="2026552"/>
                  </a:cubicBezTo>
                  <a:lnTo>
                    <a:pt x="0" y="31106"/>
                  </a:lnTo>
                  <a:cubicBezTo>
                    <a:pt x="0" y="13927"/>
                    <a:pt x="13927" y="0"/>
                    <a:pt x="31106" y="0"/>
                  </a:cubicBezTo>
                  <a:close/>
                </a:path>
              </a:pathLst>
            </a:custGeom>
            <a:solidFill>
              <a:srgbClr val="F0F0F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1638778" cy="2152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364756" y="7393125"/>
            <a:ext cx="13558487" cy="1304604"/>
            <a:chOff x="0" y="0"/>
            <a:chExt cx="3570960" cy="34359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570960" cy="343599"/>
            </a:xfrm>
            <a:custGeom>
              <a:avLst/>
              <a:gdLst/>
              <a:ahLst/>
              <a:cxnLst/>
              <a:rect l="l" t="t" r="r" b="b"/>
              <a:pathLst>
                <a:path w="3570960" h="343599">
                  <a:moveTo>
                    <a:pt x="11991" y="0"/>
                  </a:moveTo>
                  <a:lnTo>
                    <a:pt x="3558968" y="0"/>
                  </a:lnTo>
                  <a:cubicBezTo>
                    <a:pt x="3562149" y="0"/>
                    <a:pt x="3565199" y="1263"/>
                    <a:pt x="3567447" y="3512"/>
                  </a:cubicBezTo>
                  <a:cubicBezTo>
                    <a:pt x="3569696" y="5761"/>
                    <a:pt x="3570960" y="8811"/>
                    <a:pt x="3570960" y="11991"/>
                  </a:cubicBezTo>
                  <a:lnTo>
                    <a:pt x="3570960" y="331608"/>
                  </a:lnTo>
                  <a:cubicBezTo>
                    <a:pt x="3570960" y="334789"/>
                    <a:pt x="3569696" y="337839"/>
                    <a:pt x="3567447" y="340087"/>
                  </a:cubicBezTo>
                  <a:cubicBezTo>
                    <a:pt x="3565199" y="342336"/>
                    <a:pt x="3562149" y="343599"/>
                    <a:pt x="3558968" y="343599"/>
                  </a:cubicBezTo>
                  <a:lnTo>
                    <a:pt x="11991" y="343599"/>
                  </a:lnTo>
                  <a:cubicBezTo>
                    <a:pt x="8811" y="343599"/>
                    <a:pt x="5761" y="342336"/>
                    <a:pt x="3512" y="340087"/>
                  </a:cubicBezTo>
                  <a:cubicBezTo>
                    <a:pt x="1263" y="337839"/>
                    <a:pt x="0" y="334789"/>
                    <a:pt x="0" y="331608"/>
                  </a:cubicBezTo>
                  <a:lnTo>
                    <a:pt x="0" y="11991"/>
                  </a:lnTo>
                  <a:cubicBezTo>
                    <a:pt x="0" y="8811"/>
                    <a:pt x="1263" y="5761"/>
                    <a:pt x="3512" y="3512"/>
                  </a:cubicBezTo>
                  <a:cubicBezTo>
                    <a:pt x="5761" y="1263"/>
                    <a:pt x="8811" y="0"/>
                    <a:pt x="11991" y="0"/>
                  </a:cubicBezTo>
                  <a:close/>
                </a:path>
              </a:pathLst>
            </a:custGeom>
            <a:solidFill>
              <a:srgbClr val="E9480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0"/>
              <a:ext cx="3570960" cy="4388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4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421885" y="2113425"/>
            <a:ext cx="5370540" cy="4601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3"/>
              </a:lnSpc>
              <a:spcBef>
                <a:spcPct val="0"/>
              </a:spcBef>
            </a:pPr>
            <a:r>
              <a:rPr lang="en-US" sz="3202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Proposed System</a:t>
            </a:r>
          </a:p>
          <a:p>
            <a:pPr algn="ctr">
              <a:lnSpc>
                <a:spcPts val="4483"/>
              </a:lnSpc>
              <a:spcBef>
                <a:spcPct val="0"/>
              </a:spcBef>
            </a:pPr>
            <a:r>
              <a:rPr lang="en-US" sz="3202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A web-based deepfake detection platform consisting of:</a:t>
            </a:r>
          </a:p>
          <a:p>
            <a:pPr algn="ctr">
              <a:lnSpc>
                <a:spcPts val="4483"/>
              </a:lnSpc>
              <a:spcBef>
                <a:spcPct val="0"/>
              </a:spcBef>
            </a:pPr>
            <a:r>
              <a:rPr lang="en-US" sz="3202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Frontend for image upload</a:t>
            </a:r>
          </a:p>
          <a:p>
            <a:pPr algn="ctr">
              <a:lnSpc>
                <a:spcPts val="4483"/>
              </a:lnSpc>
              <a:spcBef>
                <a:spcPct val="0"/>
              </a:spcBef>
            </a:pPr>
            <a:r>
              <a:rPr lang="en-US" sz="3202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Backend for processing</a:t>
            </a:r>
          </a:p>
          <a:p>
            <a:pPr algn="ctr">
              <a:lnSpc>
                <a:spcPts val="4483"/>
              </a:lnSpc>
              <a:spcBef>
                <a:spcPct val="0"/>
              </a:spcBef>
            </a:pPr>
            <a:r>
              <a:rPr lang="en-US" sz="3202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Deep learning model for classification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364756" y="7560147"/>
            <a:ext cx="13558487" cy="856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4"/>
              </a:lnSpc>
              <a:spcBef>
                <a:spcPct val="0"/>
              </a:spcBef>
            </a:pPr>
            <a:r>
              <a:rPr lang="en-US" sz="228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Workflow</a:t>
            </a:r>
          </a:p>
          <a:p>
            <a:pPr algn="ctr">
              <a:lnSpc>
                <a:spcPts val="3204"/>
              </a:lnSpc>
              <a:spcBef>
                <a:spcPct val="0"/>
              </a:spcBef>
            </a:pPr>
            <a:r>
              <a:rPr lang="en-US" sz="228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User Image → Preprocessing → ResNet18 Model → Prediction → Display Result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7263" y="3977198"/>
            <a:ext cx="13846308" cy="5281102"/>
          </a:xfrm>
          <a:custGeom>
            <a:avLst/>
            <a:gdLst/>
            <a:ahLst/>
            <a:cxnLst/>
            <a:rect l="l" t="t" r="r" b="b"/>
            <a:pathLst>
              <a:path w="13846308" h="5281102">
                <a:moveTo>
                  <a:pt x="0" y="0"/>
                </a:moveTo>
                <a:lnTo>
                  <a:pt x="13846308" y="0"/>
                </a:lnTo>
                <a:lnTo>
                  <a:pt x="13846308" y="5281102"/>
                </a:lnTo>
                <a:lnTo>
                  <a:pt x="0" y="5281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6963" b="-1771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635757" y="1966683"/>
            <a:ext cx="4460300" cy="1201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70"/>
              </a:lnSpc>
            </a:pPr>
            <a:r>
              <a:rPr lang="en-US" sz="4299" b="1">
                <a:solidFill>
                  <a:srgbClr val="242424"/>
                </a:solidFill>
                <a:latin typeface="Agrandir Grand Heavy"/>
                <a:ea typeface="Agrandir Grand Heavy"/>
                <a:cs typeface="Agrandir Grand Heavy"/>
                <a:sym typeface="Agrandir Grand Heavy"/>
              </a:rPr>
              <a:t>SYSTEM DIAGRAM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35757" y="1370742"/>
            <a:ext cx="1327040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06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641826" y="1747932"/>
            <a:ext cx="3102919" cy="7859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COMPONENTS:</a:t>
            </a:r>
          </a:p>
          <a:p>
            <a:pPr marL="474978" lvl="1" indent="-237489" algn="just">
              <a:lnSpc>
                <a:spcPts val="3079"/>
              </a:lnSpc>
              <a:buAutoNum type="arabicPeriod"/>
            </a:pPr>
            <a:r>
              <a:rPr lang="en-US" sz="2199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USER INTERFACE</a:t>
            </a:r>
          </a:p>
          <a:p>
            <a:pPr marL="949956" lvl="2" indent="-316652" algn="just">
              <a:lnSpc>
                <a:spcPts val="3079"/>
              </a:lnSpc>
              <a:buFont typeface="Arial"/>
              <a:buChar char="⚬"/>
            </a:pPr>
            <a:r>
              <a:rPr lang="en-US" sz="2199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UPLOAD IMAGE</a:t>
            </a:r>
          </a:p>
          <a:p>
            <a:pPr marL="474978" lvl="1" indent="-237489" algn="just">
              <a:lnSpc>
                <a:spcPts val="3079"/>
              </a:lnSpc>
              <a:buAutoNum type="arabicPeriod"/>
            </a:pPr>
            <a:r>
              <a:rPr lang="en-US" sz="2199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FLASK SERVER</a:t>
            </a:r>
          </a:p>
          <a:p>
            <a:pPr marL="949956" lvl="2" indent="-316652" algn="just">
              <a:lnSpc>
                <a:spcPts val="3079"/>
              </a:lnSpc>
              <a:buFont typeface="Arial"/>
              <a:buChar char="⚬"/>
            </a:pPr>
            <a:r>
              <a:rPr lang="en-US" sz="2199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HANDLES REQUEST</a:t>
            </a:r>
          </a:p>
          <a:p>
            <a:pPr marL="474978" lvl="1" indent="-237489" algn="just">
              <a:lnSpc>
                <a:spcPts val="3079"/>
              </a:lnSpc>
              <a:buAutoNum type="arabicPeriod"/>
            </a:pPr>
            <a:r>
              <a:rPr lang="en-US" sz="2199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IMAGE PREPROCESSING</a:t>
            </a:r>
          </a:p>
          <a:p>
            <a:pPr marL="949956" lvl="2" indent="-316652" algn="just">
              <a:lnSpc>
                <a:spcPts val="3079"/>
              </a:lnSpc>
              <a:buFont typeface="Arial"/>
              <a:buChar char="⚬"/>
            </a:pPr>
            <a:r>
              <a:rPr lang="en-US" sz="2199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RESIZE (224×224)</a:t>
            </a:r>
          </a:p>
          <a:p>
            <a:pPr marL="949956" lvl="2" indent="-316652" algn="just">
              <a:lnSpc>
                <a:spcPts val="3079"/>
              </a:lnSpc>
              <a:buFont typeface="Arial"/>
              <a:buChar char="⚬"/>
            </a:pPr>
            <a:r>
              <a:rPr lang="en-US" sz="2199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NORMALIZE</a:t>
            </a:r>
          </a:p>
          <a:p>
            <a:pPr marL="474978" lvl="1" indent="-237489" algn="just">
              <a:lnSpc>
                <a:spcPts val="3079"/>
              </a:lnSpc>
              <a:buAutoNum type="arabicPeriod"/>
            </a:pPr>
            <a:r>
              <a:rPr lang="en-US" sz="2199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DEEP LEARNING MODEL</a:t>
            </a:r>
          </a:p>
          <a:p>
            <a:pPr marL="949956" lvl="2" indent="-316652" algn="just">
              <a:lnSpc>
                <a:spcPts val="3079"/>
              </a:lnSpc>
              <a:buFont typeface="Arial"/>
              <a:buChar char="⚬"/>
            </a:pPr>
            <a:r>
              <a:rPr lang="en-US" sz="2199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RESNET18 (FINE-TUNED)</a:t>
            </a:r>
          </a:p>
          <a:p>
            <a:pPr marL="474978" lvl="1" indent="-237489" algn="just">
              <a:lnSpc>
                <a:spcPts val="3079"/>
              </a:lnSpc>
              <a:buAutoNum type="arabicPeriod"/>
            </a:pPr>
            <a:r>
              <a:rPr lang="en-US" sz="2199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OUTPUT MODULE</a:t>
            </a:r>
          </a:p>
          <a:p>
            <a:pPr marL="949956" lvl="2" indent="-316652" algn="just">
              <a:lnSpc>
                <a:spcPts val="3079"/>
              </a:lnSpc>
              <a:buFont typeface="Arial"/>
              <a:buChar char="⚬"/>
            </a:pPr>
            <a:r>
              <a:rPr lang="en-US" sz="2199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FAKE/REAL LABEL</a:t>
            </a:r>
          </a:p>
          <a:p>
            <a:pPr marL="949956" lvl="2" indent="-316652" algn="just">
              <a:lnSpc>
                <a:spcPts val="3079"/>
              </a:lnSpc>
              <a:buFont typeface="Arial"/>
              <a:buChar char="⚬"/>
            </a:pPr>
            <a:r>
              <a:rPr lang="en-US" sz="2199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CONFIDENCE SCORES</a:t>
            </a:r>
          </a:p>
          <a:p>
            <a:pPr algn="just">
              <a:lnSpc>
                <a:spcPts val="3079"/>
              </a:lnSpc>
            </a:pPr>
            <a:endParaRPr lang="en-US" sz="2199">
              <a:solidFill>
                <a:srgbClr val="616161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451168A1-889F-2E8C-D263-CAC56EEFC533}"/>
              </a:ext>
            </a:extLst>
          </p:cNvPr>
          <p:cNvSpPr/>
          <p:nvPr/>
        </p:nvSpPr>
        <p:spPr>
          <a:xfrm>
            <a:off x="6216684" y="11382791"/>
            <a:ext cx="5854632" cy="3091543"/>
          </a:xfrm>
          <a:custGeom>
            <a:avLst/>
            <a:gdLst/>
            <a:ahLst/>
            <a:cxnLst/>
            <a:rect l="l" t="t" r="r" b="b"/>
            <a:pathLst>
              <a:path w="11145645" h="6209405">
                <a:moveTo>
                  <a:pt x="0" y="0"/>
                </a:moveTo>
                <a:lnTo>
                  <a:pt x="11145646" y="0"/>
                </a:lnTo>
                <a:lnTo>
                  <a:pt x="11145646" y="6209405"/>
                </a:lnTo>
                <a:lnTo>
                  <a:pt x="0" y="62094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7000"/>
            </a:blip>
            <a:stretch>
              <a:fillRect t="-367" b="-367"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668205" flipH="1" flipV="1">
            <a:off x="-2046551" y="2925220"/>
            <a:ext cx="13148130" cy="18357767"/>
          </a:xfrm>
          <a:custGeom>
            <a:avLst/>
            <a:gdLst/>
            <a:ahLst/>
            <a:cxnLst/>
            <a:rect l="l" t="t" r="r" b="b"/>
            <a:pathLst>
              <a:path w="13148130" h="18357767">
                <a:moveTo>
                  <a:pt x="13148130" y="18357766"/>
                </a:moveTo>
                <a:lnTo>
                  <a:pt x="0" y="18357766"/>
                </a:lnTo>
                <a:lnTo>
                  <a:pt x="0" y="0"/>
                </a:lnTo>
                <a:lnTo>
                  <a:pt x="13148130" y="0"/>
                </a:lnTo>
                <a:lnTo>
                  <a:pt x="13148130" y="183577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777108" y="2644736"/>
            <a:ext cx="8420343" cy="3575417"/>
            <a:chOff x="0" y="0"/>
            <a:chExt cx="1766781" cy="75020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66781" cy="750204"/>
            </a:xfrm>
            <a:custGeom>
              <a:avLst/>
              <a:gdLst/>
              <a:ahLst/>
              <a:cxnLst/>
              <a:rect l="l" t="t" r="r" b="b"/>
              <a:pathLst>
                <a:path w="1766781" h="750204">
                  <a:moveTo>
                    <a:pt x="22986" y="0"/>
                  </a:moveTo>
                  <a:lnTo>
                    <a:pt x="1743795" y="0"/>
                  </a:lnTo>
                  <a:cubicBezTo>
                    <a:pt x="1749891" y="0"/>
                    <a:pt x="1755737" y="2422"/>
                    <a:pt x="1760048" y="6732"/>
                  </a:cubicBezTo>
                  <a:cubicBezTo>
                    <a:pt x="1764359" y="11043"/>
                    <a:pt x="1766781" y="16890"/>
                    <a:pt x="1766781" y="22986"/>
                  </a:cubicBezTo>
                  <a:lnTo>
                    <a:pt x="1766781" y="727218"/>
                  </a:lnTo>
                  <a:cubicBezTo>
                    <a:pt x="1766781" y="733315"/>
                    <a:pt x="1764359" y="739161"/>
                    <a:pt x="1760048" y="743472"/>
                  </a:cubicBezTo>
                  <a:cubicBezTo>
                    <a:pt x="1755737" y="747782"/>
                    <a:pt x="1749891" y="750204"/>
                    <a:pt x="1743795" y="750204"/>
                  </a:cubicBezTo>
                  <a:lnTo>
                    <a:pt x="22986" y="750204"/>
                  </a:lnTo>
                  <a:cubicBezTo>
                    <a:pt x="10291" y="750204"/>
                    <a:pt x="0" y="739913"/>
                    <a:pt x="0" y="727218"/>
                  </a:cubicBezTo>
                  <a:lnTo>
                    <a:pt x="0" y="22986"/>
                  </a:lnTo>
                  <a:cubicBezTo>
                    <a:pt x="0" y="10291"/>
                    <a:pt x="10291" y="0"/>
                    <a:pt x="22986" y="0"/>
                  </a:cubicBezTo>
                  <a:close/>
                </a:path>
              </a:pathLst>
            </a:custGeom>
            <a:solidFill>
              <a:srgbClr val="F0F0F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0"/>
              <a:ext cx="1766781" cy="845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4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3530508" y="3115450"/>
            <a:ext cx="11145645" cy="6209405"/>
          </a:xfrm>
          <a:custGeom>
            <a:avLst/>
            <a:gdLst/>
            <a:ahLst/>
            <a:cxnLst/>
            <a:rect l="l" t="t" r="r" b="b"/>
            <a:pathLst>
              <a:path w="11145645" h="6209405">
                <a:moveTo>
                  <a:pt x="0" y="0"/>
                </a:moveTo>
                <a:lnTo>
                  <a:pt x="11145646" y="0"/>
                </a:lnTo>
                <a:lnTo>
                  <a:pt x="11145646" y="6209405"/>
                </a:lnTo>
                <a:lnTo>
                  <a:pt x="0" y="62094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7000"/>
            </a:blip>
            <a:stretch>
              <a:fillRect t="-367" b="-36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635757" y="1966683"/>
            <a:ext cx="6528810" cy="67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70"/>
              </a:lnSpc>
            </a:pPr>
            <a:r>
              <a:rPr lang="en-US" sz="4299" b="1">
                <a:solidFill>
                  <a:srgbClr val="242424"/>
                </a:solidFill>
                <a:latin typeface="Agrandir Grand Heavy"/>
                <a:ea typeface="Agrandir Grand Heavy"/>
                <a:cs typeface="Agrandir Grand Heavy"/>
                <a:sym typeface="Agrandir Grand Heavy"/>
              </a:rPr>
              <a:t>MODULES LIST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35757" y="1370742"/>
            <a:ext cx="1327040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07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355858" flipH="1" flipV="1">
            <a:off x="-3784411" y="-1061314"/>
            <a:ext cx="10474737" cy="14625104"/>
          </a:xfrm>
          <a:custGeom>
            <a:avLst/>
            <a:gdLst/>
            <a:ahLst/>
            <a:cxnLst/>
            <a:rect l="l" t="t" r="r" b="b"/>
            <a:pathLst>
              <a:path w="10474737" h="14625104">
                <a:moveTo>
                  <a:pt x="10474737" y="14625105"/>
                </a:moveTo>
                <a:lnTo>
                  <a:pt x="0" y="14625105"/>
                </a:lnTo>
                <a:lnTo>
                  <a:pt x="0" y="0"/>
                </a:lnTo>
                <a:lnTo>
                  <a:pt x="10474737" y="0"/>
                </a:lnTo>
                <a:lnTo>
                  <a:pt x="10474737" y="146251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635757" y="4778595"/>
            <a:ext cx="5953043" cy="1201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70"/>
              </a:lnSpc>
            </a:pPr>
            <a:r>
              <a:rPr lang="en-US" sz="4299" b="1">
                <a:solidFill>
                  <a:srgbClr val="242424"/>
                </a:solidFill>
                <a:latin typeface="Agrandir Grand Heavy"/>
                <a:ea typeface="Agrandir Grand Heavy"/>
                <a:cs typeface="Agrandir Grand Heavy"/>
                <a:sym typeface="Agrandir Grand Heavy"/>
              </a:rPr>
              <a:t>MODULE EXPLANATION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35757" y="4182653"/>
            <a:ext cx="1327040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08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225799" y="1237165"/>
            <a:ext cx="9033501" cy="7812670"/>
            <a:chOff x="0" y="0"/>
            <a:chExt cx="2379194" cy="20576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79194" cy="2057658"/>
            </a:xfrm>
            <a:custGeom>
              <a:avLst/>
              <a:gdLst/>
              <a:ahLst/>
              <a:cxnLst/>
              <a:rect l="l" t="t" r="r" b="b"/>
              <a:pathLst>
                <a:path w="2379194" h="2057658">
                  <a:moveTo>
                    <a:pt x="35995" y="0"/>
                  </a:moveTo>
                  <a:lnTo>
                    <a:pt x="2343199" y="0"/>
                  </a:lnTo>
                  <a:cubicBezTo>
                    <a:pt x="2352745" y="0"/>
                    <a:pt x="2361901" y="3792"/>
                    <a:pt x="2368651" y="10543"/>
                  </a:cubicBezTo>
                  <a:cubicBezTo>
                    <a:pt x="2375401" y="17293"/>
                    <a:pt x="2379194" y="26449"/>
                    <a:pt x="2379194" y="35995"/>
                  </a:cubicBezTo>
                  <a:lnTo>
                    <a:pt x="2379194" y="2021663"/>
                  </a:lnTo>
                  <a:cubicBezTo>
                    <a:pt x="2379194" y="2031209"/>
                    <a:pt x="2375401" y="2040365"/>
                    <a:pt x="2368651" y="2047115"/>
                  </a:cubicBezTo>
                  <a:cubicBezTo>
                    <a:pt x="2361901" y="2053866"/>
                    <a:pt x="2352745" y="2057658"/>
                    <a:pt x="2343199" y="2057658"/>
                  </a:cubicBezTo>
                  <a:lnTo>
                    <a:pt x="35995" y="2057658"/>
                  </a:lnTo>
                  <a:cubicBezTo>
                    <a:pt x="26449" y="2057658"/>
                    <a:pt x="17293" y="2053866"/>
                    <a:pt x="10543" y="2047115"/>
                  </a:cubicBezTo>
                  <a:cubicBezTo>
                    <a:pt x="3792" y="2040365"/>
                    <a:pt x="0" y="2031209"/>
                    <a:pt x="0" y="2021663"/>
                  </a:cubicBezTo>
                  <a:lnTo>
                    <a:pt x="0" y="35995"/>
                  </a:lnTo>
                  <a:cubicBezTo>
                    <a:pt x="0" y="26449"/>
                    <a:pt x="3792" y="17293"/>
                    <a:pt x="10543" y="10543"/>
                  </a:cubicBezTo>
                  <a:cubicBezTo>
                    <a:pt x="17293" y="3792"/>
                    <a:pt x="26449" y="0"/>
                    <a:pt x="35995" y="0"/>
                  </a:cubicBezTo>
                  <a:close/>
                </a:path>
              </a:pathLst>
            </a:custGeom>
            <a:solidFill>
              <a:srgbClr val="F0F0F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2379194" cy="2152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4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532166" y="3353626"/>
            <a:ext cx="8420767" cy="4198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7"/>
              </a:lnSpc>
            </a:pPr>
            <a:r>
              <a:rPr lang="en-US" sz="2799" b="1">
                <a:solidFill>
                  <a:srgbClr val="E9480D"/>
                </a:solidFill>
                <a:latin typeface="Agrandir Bold"/>
                <a:ea typeface="Agrandir Bold"/>
                <a:cs typeface="Agrandir Bold"/>
                <a:sym typeface="Agrandir Bold"/>
              </a:rPr>
              <a:t>IMAGE INPUT &amp; PREPROCESSING MODULE</a:t>
            </a:r>
          </a:p>
          <a:p>
            <a:pPr marL="604519" lvl="1" indent="-302260" algn="l">
              <a:lnSpc>
                <a:spcPts val="2547"/>
              </a:lnSpc>
              <a:buFont typeface="Arial"/>
              <a:buChar char="•"/>
            </a:pPr>
            <a:r>
              <a:rPr lang="en-US" sz="2799" b="1">
                <a:solidFill>
                  <a:srgbClr val="E9480D"/>
                </a:solidFill>
                <a:latin typeface="Agrandir Bold"/>
                <a:ea typeface="Agrandir Bold"/>
                <a:cs typeface="Agrandir Bold"/>
                <a:sym typeface="Agrandir Bold"/>
              </a:rPr>
              <a:t>ACCEPTS IMAGES FROM USERS</a:t>
            </a:r>
          </a:p>
          <a:p>
            <a:pPr marL="604519" lvl="1" indent="-302260" algn="l">
              <a:lnSpc>
                <a:spcPts val="2547"/>
              </a:lnSpc>
              <a:buFont typeface="Arial"/>
              <a:buChar char="•"/>
            </a:pPr>
            <a:r>
              <a:rPr lang="en-US" sz="2799" b="1">
                <a:solidFill>
                  <a:srgbClr val="E9480D"/>
                </a:solidFill>
                <a:latin typeface="Agrandir Bold"/>
                <a:ea typeface="Agrandir Bold"/>
                <a:cs typeface="Agrandir Bold"/>
                <a:sym typeface="Agrandir Bold"/>
              </a:rPr>
              <a:t>CONVERTS IMAGE TO RGB</a:t>
            </a:r>
          </a:p>
          <a:p>
            <a:pPr marL="604519" lvl="1" indent="-302260" algn="l">
              <a:lnSpc>
                <a:spcPts val="2547"/>
              </a:lnSpc>
              <a:buFont typeface="Arial"/>
              <a:buChar char="•"/>
            </a:pPr>
            <a:r>
              <a:rPr lang="en-US" sz="2799" b="1">
                <a:solidFill>
                  <a:srgbClr val="E9480D"/>
                </a:solidFill>
                <a:latin typeface="Agrandir Bold"/>
                <a:ea typeface="Agrandir Bold"/>
                <a:cs typeface="Agrandir Bold"/>
                <a:sym typeface="Agrandir Bold"/>
              </a:rPr>
              <a:t>RESIZES TO 224×224</a:t>
            </a:r>
          </a:p>
          <a:p>
            <a:pPr marL="604519" lvl="1" indent="-302260" algn="l">
              <a:lnSpc>
                <a:spcPts val="2547"/>
              </a:lnSpc>
              <a:buFont typeface="Arial"/>
              <a:buChar char="•"/>
            </a:pPr>
            <a:r>
              <a:rPr lang="en-US" sz="2799" b="1">
                <a:solidFill>
                  <a:srgbClr val="E9480D"/>
                </a:solidFill>
                <a:latin typeface="Agrandir Bold"/>
                <a:ea typeface="Agrandir Bold"/>
                <a:cs typeface="Agrandir Bold"/>
                <a:sym typeface="Agrandir Bold"/>
              </a:rPr>
              <a:t>NORMALIZES USING IMAGENET MEAN &amp; STD</a:t>
            </a:r>
          </a:p>
          <a:p>
            <a:pPr algn="l">
              <a:lnSpc>
                <a:spcPts val="2547"/>
              </a:lnSpc>
            </a:pPr>
            <a:endParaRPr lang="en-US" sz="2799" b="1">
              <a:solidFill>
                <a:srgbClr val="E9480D"/>
              </a:solidFill>
              <a:latin typeface="Agrandir Bold"/>
              <a:ea typeface="Agrandir Bold"/>
              <a:cs typeface="Agrandir Bold"/>
              <a:sym typeface="Agrandir Bold"/>
            </a:endParaRPr>
          </a:p>
          <a:p>
            <a:pPr algn="l">
              <a:lnSpc>
                <a:spcPts val="2547"/>
              </a:lnSpc>
            </a:pPr>
            <a:endParaRPr lang="en-US" sz="2799" b="1">
              <a:solidFill>
                <a:srgbClr val="E9480D"/>
              </a:solidFill>
              <a:latin typeface="Agrandir Bold"/>
              <a:ea typeface="Agrandir Bold"/>
              <a:cs typeface="Agrandir Bold"/>
              <a:sym typeface="Agrandir Bold"/>
            </a:endParaRPr>
          </a:p>
          <a:p>
            <a:pPr algn="l">
              <a:lnSpc>
                <a:spcPts val="2547"/>
              </a:lnSpc>
            </a:pPr>
            <a:r>
              <a:rPr lang="en-US" sz="2799" b="1">
                <a:solidFill>
                  <a:srgbClr val="E9480D"/>
                </a:solidFill>
                <a:latin typeface="Agrandir Bold"/>
                <a:ea typeface="Agrandir Bold"/>
                <a:cs typeface="Agrandir Bold"/>
                <a:sym typeface="Agrandir Bold"/>
              </a:rPr>
              <a:t> DEEP LEARNING MODULE</a:t>
            </a:r>
          </a:p>
          <a:p>
            <a:pPr marL="604519" lvl="1" indent="-302260" algn="l">
              <a:lnSpc>
                <a:spcPts val="2547"/>
              </a:lnSpc>
              <a:buFont typeface="Arial"/>
              <a:buChar char="•"/>
            </a:pPr>
            <a:r>
              <a:rPr lang="en-US" sz="2799" b="1">
                <a:solidFill>
                  <a:srgbClr val="E9480D"/>
                </a:solidFill>
                <a:latin typeface="Agrandir Bold"/>
                <a:ea typeface="Agrandir Bold"/>
                <a:cs typeface="Agrandir Bold"/>
                <a:sym typeface="Agrandir Bold"/>
              </a:rPr>
              <a:t>RESNET18 PRE-TRAINED ON IMAGENET</a:t>
            </a:r>
          </a:p>
          <a:p>
            <a:pPr marL="604519" lvl="1" indent="-302260" algn="l">
              <a:lnSpc>
                <a:spcPts val="2547"/>
              </a:lnSpc>
              <a:buFont typeface="Arial"/>
              <a:buChar char="•"/>
            </a:pPr>
            <a:r>
              <a:rPr lang="en-US" sz="2799" b="1">
                <a:solidFill>
                  <a:srgbClr val="E9480D"/>
                </a:solidFill>
                <a:latin typeface="Agrandir Bold"/>
                <a:ea typeface="Agrandir Bold"/>
                <a:cs typeface="Agrandir Bold"/>
                <a:sym typeface="Agrandir Bold"/>
              </a:rPr>
              <a:t>FINAL LAYER MODIFIED FOR 2 CLASSES</a:t>
            </a:r>
          </a:p>
          <a:p>
            <a:pPr marL="604519" lvl="1" indent="-302260" algn="l">
              <a:lnSpc>
                <a:spcPts val="2547"/>
              </a:lnSpc>
              <a:buFont typeface="Arial"/>
              <a:buChar char="•"/>
            </a:pPr>
            <a:r>
              <a:rPr lang="en-US" sz="2799" b="1">
                <a:solidFill>
                  <a:srgbClr val="E9480D"/>
                </a:solidFill>
                <a:latin typeface="Agrandir Bold"/>
                <a:ea typeface="Agrandir Bold"/>
                <a:cs typeface="Agrandir Bold"/>
                <a:sym typeface="Agrandir Bold"/>
              </a:rPr>
              <a:t>ONLY CLASSIFICATION LAYER TRAINED</a:t>
            </a:r>
          </a:p>
          <a:p>
            <a:pPr algn="l">
              <a:lnSpc>
                <a:spcPts val="2547"/>
              </a:lnSpc>
            </a:pPr>
            <a:endParaRPr lang="en-US" sz="2799" b="1">
              <a:solidFill>
                <a:srgbClr val="E9480D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9853605" flipH="1" flipV="1">
            <a:off x="-3551439" y="-1863403"/>
            <a:ext cx="10474737" cy="14625104"/>
          </a:xfrm>
          <a:custGeom>
            <a:avLst/>
            <a:gdLst/>
            <a:ahLst/>
            <a:cxnLst/>
            <a:rect l="l" t="t" r="r" b="b"/>
            <a:pathLst>
              <a:path w="10474737" h="14625104">
                <a:moveTo>
                  <a:pt x="10474737" y="14625105"/>
                </a:moveTo>
                <a:lnTo>
                  <a:pt x="0" y="14625105"/>
                </a:lnTo>
                <a:lnTo>
                  <a:pt x="0" y="0"/>
                </a:lnTo>
                <a:lnTo>
                  <a:pt x="10474737" y="0"/>
                </a:lnTo>
                <a:lnTo>
                  <a:pt x="10474737" y="146251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4460107" y="1500817"/>
            <a:ext cx="9367785" cy="67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70"/>
              </a:lnSpc>
            </a:pPr>
            <a:r>
              <a:rPr lang="en-US" sz="4299" b="1">
                <a:solidFill>
                  <a:srgbClr val="242424"/>
                </a:solidFill>
                <a:latin typeface="Agrandir Grand Heavy"/>
                <a:ea typeface="Agrandir Grand Heavy"/>
                <a:cs typeface="Agrandir Grand Heavy"/>
                <a:sym typeface="Agrandir Grand Heavy"/>
              </a:rPr>
              <a:t>MODULE EXPLANATION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480480" y="904875"/>
            <a:ext cx="1327040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09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2161206" y="2786451"/>
            <a:ext cx="14697224" cy="6998290"/>
            <a:chOff x="0" y="0"/>
            <a:chExt cx="3870874" cy="18431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870874" cy="1843171"/>
            </a:xfrm>
            <a:custGeom>
              <a:avLst/>
              <a:gdLst/>
              <a:ahLst/>
              <a:cxnLst/>
              <a:rect l="l" t="t" r="r" b="b"/>
              <a:pathLst>
                <a:path w="3870874" h="1843171">
                  <a:moveTo>
                    <a:pt x="23704" y="0"/>
                  </a:moveTo>
                  <a:lnTo>
                    <a:pt x="3847169" y="0"/>
                  </a:lnTo>
                  <a:cubicBezTo>
                    <a:pt x="3853456" y="0"/>
                    <a:pt x="3859486" y="2497"/>
                    <a:pt x="3863931" y="6943"/>
                  </a:cubicBezTo>
                  <a:cubicBezTo>
                    <a:pt x="3868376" y="11388"/>
                    <a:pt x="3870874" y="17417"/>
                    <a:pt x="3870874" y="23704"/>
                  </a:cubicBezTo>
                  <a:lnTo>
                    <a:pt x="3870874" y="1819467"/>
                  </a:lnTo>
                  <a:cubicBezTo>
                    <a:pt x="3870874" y="1825753"/>
                    <a:pt x="3868376" y="1831783"/>
                    <a:pt x="3863931" y="1836228"/>
                  </a:cubicBezTo>
                  <a:cubicBezTo>
                    <a:pt x="3859486" y="1840674"/>
                    <a:pt x="3853456" y="1843171"/>
                    <a:pt x="3847169" y="1843171"/>
                  </a:cubicBezTo>
                  <a:lnTo>
                    <a:pt x="23704" y="1843171"/>
                  </a:lnTo>
                  <a:cubicBezTo>
                    <a:pt x="17417" y="1843171"/>
                    <a:pt x="11388" y="1840674"/>
                    <a:pt x="6943" y="1836228"/>
                  </a:cubicBezTo>
                  <a:cubicBezTo>
                    <a:pt x="2497" y="1831783"/>
                    <a:pt x="0" y="1825753"/>
                    <a:pt x="0" y="1819467"/>
                  </a:cubicBezTo>
                  <a:lnTo>
                    <a:pt x="0" y="23704"/>
                  </a:lnTo>
                  <a:cubicBezTo>
                    <a:pt x="0" y="17417"/>
                    <a:pt x="2497" y="11388"/>
                    <a:pt x="6943" y="6943"/>
                  </a:cubicBezTo>
                  <a:cubicBezTo>
                    <a:pt x="11388" y="2497"/>
                    <a:pt x="17417" y="0"/>
                    <a:pt x="23704" y="0"/>
                  </a:cubicBezTo>
                  <a:close/>
                </a:path>
              </a:pathLst>
            </a:custGeom>
            <a:solidFill>
              <a:srgbClr val="E9480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3870874" cy="19384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4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155009" y="2862311"/>
            <a:ext cx="7977982" cy="672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Backend Module (Flask)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Receives uploaded image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Sends image to model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Returns JSON response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endParaRPr lang="en-US" sz="2699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Visualization Module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Uses Grad-CAM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Generates heatmap on facial regions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Explains model decisions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endParaRPr lang="en-US" sz="2699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Output Module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Displays: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✔ Prediction (Fake/Real)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✔ Confidence percentages</a:t>
            </a:r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19BEFCB4-204C-C749-40B4-0E1882BC24E9}"/>
              </a:ext>
            </a:extLst>
          </p:cNvPr>
          <p:cNvSpPr/>
          <p:nvPr/>
        </p:nvSpPr>
        <p:spPr>
          <a:xfrm>
            <a:off x="-4151676" y="8904783"/>
            <a:ext cx="3787509" cy="5005243"/>
          </a:xfrm>
          <a:custGeom>
            <a:avLst/>
            <a:gdLst/>
            <a:ahLst/>
            <a:cxnLst/>
            <a:rect l="l" t="t" r="r" b="b"/>
            <a:pathLst>
              <a:path w="3787509" h="5005243">
                <a:moveTo>
                  <a:pt x="0" y="0"/>
                </a:moveTo>
                <a:lnTo>
                  <a:pt x="3787509" y="0"/>
                </a:lnTo>
                <a:lnTo>
                  <a:pt x="3787509" y="5005243"/>
                </a:lnTo>
                <a:lnTo>
                  <a:pt x="0" y="50052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668036" flipH="1" flipV="1">
            <a:off x="-1029676" y="-4169100"/>
            <a:ext cx="10474737" cy="14625104"/>
          </a:xfrm>
          <a:custGeom>
            <a:avLst/>
            <a:gdLst/>
            <a:ahLst/>
            <a:cxnLst/>
            <a:rect l="l" t="t" r="r" b="b"/>
            <a:pathLst>
              <a:path w="10474737" h="14625104">
                <a:moveTo>
                  <a:pt x="10474736" y="14625104"/>
                </a:moveTo>
                <a:lnTo>
                  <a:pt x="0" y="14625104"/>
                </a:lnTo>
                <a:lnTo>
                  <a:pt x="0" y="0"/>
                </a:lnTo>
                <a:lnTo>
                  <a:pt x="10474736" y="0"/>
                </a:lnTo>
                <a:lnTo>
                  <a:pt x="10474736" y="1462510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0" y="5281757"/>
            <a:ext cx="3787509" cy="5005243"/>
          </a:xfrm>
          <a:custGeom>
            <a:avLst/>
            <a:gdLst/>
            <a:ahLst/>
            <a:cxnLst/>
            <a:rect l="l" t="t" r="r" b="b"/>
            <a:pathLst>
              <a:path w="3787509" h="5005243">
                <a:moveTo>
                  <a:pt x="0" y="0"/>
                </a:moveTo>
                <a:lnTo>
                  <a:pt x="3787509" y="0"/>
                </a:lnTo>
                <a:lnTo>
                  <a:pt x="3787509" y="5005243"/>
                </a:lnTo>
                <a:lnTo>
                  <a:pt x="0" y="50052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TextBox 4"/>
          <p:cNvSpPr txBox="1"/>
          <p:nvPr/>
        </p:nvSpPr>
        <p:spPr>
          <a:xfrm>
            <a:off x="9144000" y="976929"/>
            <a:ext cx="6049351" cy="1725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70"/>
              </a:lnSpc>
            </a:pPr>
            <a:r>
              <a:rPr lang="en-US" sz="4299" b="1">
                <a:solidFill>
                  <a:srgbClr val="242424"/>
                </a:solidFill>
                <a:latin typeface="Agrandir Grand Heavy"/>
                <a:ea typeface="Agrandir Grand Heavy"/>
                <a:cs typeface="Agrandir Grand Heavy"/>
                <a:sym typeface="Agrandir Grand Heavy"/>
              </a:rPr>
              <a:t>IMPLEMENTATION RESULTS (40–50%)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0" y="380987"/>
            <a:ext cx="1327040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12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842865" y="2578906"/>
            <a:ext cx="11256349" cy="802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399" b="1">
                <a:solidFill>
                  <a:srgbClr val="616161"/>
                </a:solidFill>
                <a:latin typeface="Agrandir Bold"/>
                <a:ea typeface="Agrandir Bold"/>
                <a:cs typeface="Agrandir Bold"/>
                <a:sym typeface="Agrandir Bold"/>
              </a:rPr>
              <a:t>MODEL PERFORMANCE</a:t>
            </a:r>
          </a:p>
          <a:p>
            <a:pPr marL="518157" lvl="1" indent="-259078" algn="just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ACHIEVED HIGH ACCURACY ON TEST DATASET</a:t>
            </a:r>
          </a:p>
          <a:p>
            <a:pPr marL="518157" lvl="1" indent="-259078" algn="just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GOOD DETECTION OF TEXTURE AND BLENDING ARTIFACTS</a:t>
            </a:r>
          </a:p>
          <a:p>
            <a:pPr algn="just">
              <a:lnSpc>
                <a:spcPts val="3359"/>
              </a:lnSpc>
            </a:pPr>
            <a:endParaRPr lang="en-US" sz="2399">
              <a:solidFill>
                <a:srgbClr val="616161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just">
              <a:lnSpc>
                <a:spcPts val="3359"/>
              </a:lnSpc>
            </a:pPr>
            <a:r>
              <a:rPr lang="en-US" sz="2399" b="1">
                <a:solidFill>
                  <a:srgbClr val="616161"/>
                </a:solidFill>
                <a:latin typeface="Agrandir Bold"/>
                <a:ea typeface="Agrandir Bold"/>
                <a:cs typeface="Agrandir Bold"/>
                <a:sym typeface="Agrandir Bold"/>
              </a:rPr>
              <a:t> EVALUATION METRICS USED</a:t>
            </a:r>
          </a:p>
          <a:p>
            <a:pPr marL="518157" lvl="1" indent="-259078" algn="just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ACCURACY</a:t>
            </a:r>
          </a:p>
          <a:p>
            <a:pPr marL="518157" lvl="1" indent="-259078" algn="just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CONFUSION MATRIX</a:t>
            </a:r>
          </a:p>
          <a:p>
            <a:pPr marL="518157" lvl="1" indent="-259078" algn="just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PRECISION &amp; RECALL</a:t>
            </a:r>
          </a:p>
          <a:p>
            <a:pPr marL="518157" lvl="1" indent="-259078" algn="just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CLASSIFICATION REPORT</a:t>
            </a:r>
          </a:p>
          <a:p>
            <a:pPr algn="just">
              <a:lnSpc>
                <a:spcPts val="3359"/>
              </a:lnSpc>
            </a:pPr>
            <a:endParaRPr lang="en-US" sz="2399">
              <a:solidFill>
                <a:srgbClr val="616161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just">
              <a:lnSpc>
                <a:spcPts val="3359"/>
              </a:lnSpc>
            </a:pPr>
            <a:r>
              <a:rPr lang="en-US" sz="2399" b="1">
                <a:solidFill>
                  <a:srgbClr val="616161"/>
                </a:solidFill>
                <a:latin typeface="Agrandir Bold"/>
                <a:ea typeface="Agrandir Bold"/>
                <a:cs typeface="Agrandir Bold"/>
                <a:sym typeface="Agrandir Bold"/>
              </a:rPr>
              <a:t> SYSTEM PERFORMANCE</a:t>
            </a:r>
          </a:p>
          <a:p>
            <a:pPr marL="518157" lvl="1" indent="-259078" algn="just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REAL-TIME PREDICTION VIA WEB</a:t>
            </a:r>
          </a:p>
          <a:p>
            <a:pPr marL="518157" lvl="1" indent="-259078" algn="just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FAST INFERENCE</a:t>
            </a:r>
          </a:p>
          <a:p>
            <a:pPr marL="518157" lvl="1" indent="-259078" algn="just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USER-FRIENDLY INTERFACE</a:t>
            </a:r>
          </a:p>
          <a:p>
            <a:pPr algn="just">
              <a:lnSpc>
                <a:spcPts val="3359"/>
              </a:lnSpc>
            </a:pPr>
            <a:endParaRPr lang="en-US" sz="2399">
              <a:solidFill>
                <a:srgbClr val="616161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just">
              <a:lnSpc>
                <a:spcPts val="3359"/>
              </a:lnSpc>
            </a:pPr>
            <a:r>
              <a:rPr lang="en-US" sz="2399" b="1">
                <a:solidFill>
                  <a:srgbClr val="616161"/>
                </a:solidFill>
                <a:latin typeface="Agrandir Bold"/>
                <a:ea typeface="Agrandir Bold"/>
                <a:cs typeface="Agrandir Bold"/>
                <a:sym typeface="Agrandir Bold"/>
              </a:rPr>
              <a:t> OBSERVATIONS</a:t>
            </a:r>
          </a:p>
          <a:p>
            <a:pPr marL="518157" lvl="1" indent="-259078" algn="just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WORKS BEST ON FRONTAL FACES</a:t>
            </a:r>
          </a:p>
          <a:p>
            <a:pPr marL="518157" lvl="1" indent="-259078" algn="just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STRUGGLES WITH EXTREMELY REALISTIC DEEPFAKES</a:t>
            </a:r>
          </a:p>
          <a:p>
            <a:pPr algn="just">
              <a:lnSpc>
                <a:spcPts val="3359"/>
              </a:lnSpc>
            </a:pPr>
            <a:endParaRPr lang="en-US" sz="2399">
              <a:solidFill>
                <a:srgbClr val="616161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06994" y="-3259468"/>
            <a:ext cx="10474737" cy="14625104"/>
          </a:xfrm>
          <a:custGeom>
            <a:avLst/>
            <a:gdLst/>
            <a:ahLst/>
            <a:cxnLst/>
            <a:rect l="l" t="t" r="r" b="b"/>
            <a:pathLst>
              <a:path w="10474737" h="14625104">
                <a:moveTo>
                  <a:pt x="0" y="0"/>
                </a:moveTo>
                <a:lnTo>
                  <a:pt x="10474737" y="0"/>
                </a:lnTo>
                <a:lnTo>
                  <a:pt x="10474737" y="14625104"/>
                </a:lnTo>
                <a:lnTo>
                  <a:pt x="0" y="146251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4230686" y="2403896"/>
            <a:ext cx="9826629" cy="291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38"/>
              </a:lnSpc>
            </a:pPr>
            <a:r>
              <a:rPr lang="en-US" sz="14670" b="1">
                <a:solidFill>
                  <a:srgbClr val="242424"/>
                </a:solidFill>
                <a:latin typeface="Agrandir Grand Heavy"/>
                <a:ea typeface="Agrandir Grand Heavy"/>
                <a:cs typeface="Agrandir Grand Heavy"/>
                <a:sym typeface="Agrandir Grand Heavy"/>
              </a:rPr>
              <a:t>THANK</a:t>
            </a:r>
          </a:p>
        </p:txBody>
      </p:sp>
      <p:sp>
        <p:nvSpPr>
          <p:cNvPr id="4" name="TextBox 4"/>
          <p:cNvSpPr txBox="1"/>
          <p:nvPr/>
        </p:nvSpPr>
        <p:spPr>
          <a:xfrm rot="-273479">
            <a:off x="5636278" y="3857182"/>
            <a:ext cx="7012091" cy="2891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7"/>
              </a:lnSpc>
            </a:pPr>
            <a:r>
              <a:rPr lang="en-US" sz="16669">
                <a:solidFill>
                  <a:srgbClr val="E9480D"/>
                </a:solidFill>
                <a:latin typeface="Palm Club"/>
                <a:ea typeface="Palm Club"/>
                <a:cs typeface="Palm Club"/>
                <a:sym typeface="Palm Club"/>
              </a:rPr>
              <a:t>You!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5948774" y="8428574"/>
            <a:ext cx="6548026" cy="587121"/>
            <a:chOff x="0" y="0"/>
            <a:chExt cx="1683082" cy="1546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83082" cy="154633"/>
            </a:xfrm>
            <a:custGeom>
              <a:avLst/>
              <a:gdLst/>
              <a:ahLst/>
              <a:cxnLst/>
              <a:rect l="l" t="t" r="r" b="b"/>
              <a:pathLst>
                <a:path w="1683082" h="154633">
                  <a:moveTo>
                    <a:pt x="77316" y="0"/>
                  </a:moveTo>
                  <a:lnTo>
                    <a:pt x="1605766" y="0"/>
                  </a:lnTo>
                  <a:cubicBezTo>
                    <a:pt x="1648466" y="0"/>
                    <a:pt x="1683082" y="34616"/>
                    <a:pt x="1683082" y="77316"/>
                  </a:cubicBezTo>
                  <a:lnTo>
                    <a:pt x="1683082" y="77316"/>
                  </a:lnTo>
                  <a:cubicBezTo>
                    <a:pt x="1683082" y="120017"/>
                    <a:pt x="1648466" y="154633"/>
                    <a:pt x="1605766" y="154633"/>
                  </a:cubicBezTo>
                  <a:lnTo>
                    <a:pt x="77316" y="154633"/>
                  </a:lnTo>
                  <a:cubicBezTo>
                    <a:pt x="34616" y="154633"/>
                    <a:pt x="0" y="120017"/>
                    <a:pt x="0" y="77316"/>
                  </a:cubicBezTo>
                  <a:lnTo>
                    <a:pt x="0" y="77316"/>
                  </a:lnTo>
                  <a:cubicBezTo>
                    <a:pt x="0" y="34616"/>
                    <a:pt x="34616" y="0"/>
                    <a:pt x="773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E9480D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1683082" cy="2403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454770" y="8521291"/>
            <a:ext cx="5536034" cy="337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84"/>
              </a:lnSpc>
            </a:pPr>
            <a:r>
              <a:rPr lang="en-US" sz="1989" dirty="0" err="1">
                <a:solidFill>
                  <a:srgbClr val="E9480D"/>
                </a:solidFill>
                <a:latin typeface="Agrandir"/>
                <a:ea typeface="Agrandir"/>
                <a:cs typeface="Agrandir"/>
                <a:sym typeface="Agrandir"/>
              </a:rPr>
              <a:t>PyTorch</a:t>
            </a:r>
            <a:r>
              <a:rPr lang="en-US" sz="1989" dirty="0">
                <a:solidFill>
                  <a:srgbClr val="E9480D"/>
                </a:solidFill>
                <a:latin typeface="Agrandir"/>
                <a:ea typeface="Agrandir"/>
                <a:cs typeface="Agrandir"/>
                <a:sym typeface="Agrandir"/>
              </a:rPr>
              <a:t> • Flask • ResNet18 • Computer Vision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926896" y="6983119"/>
            <a:ext cx="6434208" cy="424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</a:pPr>
            <a:r>
              <a:rPr lang="en-US" sz="2117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GUIDE: DR. SANTHI K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35448" y="1055618"/>
            <a:ext cx="3217104" cy="73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6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22BCE0669</a:t>
            </a:r>
          </a:p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SHOBHIT SHOURYA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443</Words>
  <Application>Microsoft Office PowerPoint</Application>
  <PresentationFormat>Custom</PresentationFormat>
  <Paragraphs>131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Calibri</vt:lpstr>
      <vt:lpstr>Agrandir Grand Heavy</vt:lpstr>
      <vt:lpstr>Arial</vt:lpstr>
      <vt:lpstr>Palm Club</vt:lpstr>
      <vt:lpstr>Montserrat</vt:lpstr>
      <vt:lpstr>Agrandir</vt:lpstr>
      <vt:lpstr>Agrandir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deepguard</dc:title>
  <dc:creator>Shobhit Shourya</dc:creator>
  <cp:lastModifiedBy>Shobhit Shourya</cp:lastModifiedBy>
  <cp:revision>2</cp:revision>
  <dcterms:created xsi:type="dcterms:W3CDTF">2006-08-16T00:00:00Z</dcterms:created>
  <dcterms:modified xsi:type="dcterms:W3CDTF">2026-01-29T12:42:47Z</dcterms:modified>
  <dc:identifier>DAG_y8C1YWs</dc:identifier>
</cp:coreProperties>
</file>